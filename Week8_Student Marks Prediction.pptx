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layfair Display Bold" charset="1" panose="00000000000000000000"/>
      <p:regular r:id="rId16"/>
    </p:embeddedFont>
    <p:embeddedFont>
      <p:font typeface="Times New Roman" charset="1" panose="02020603050405020304"/>
      <p:regular r:id="rId17"/>
    </p:embeddedFont>
    <p:embeddedFont>
      <p:font typeface="Open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13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562645"/>
            <a:ext cx="9445523" cy="174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Predicting Student Exam Score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655021"/>
            <a:ext cx="9445523" cy="112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7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data-driven approach to understanding academic success through machine learning and statistical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7074927"/>
            <a:ext cx="9445523" cy="55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7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 Prashant, Abhinav, Srijan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7317" y="717499"/>
            <a:ext cx="11899849" cy="85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Understanding Academic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7317" y="3194088"/>
            <a:ext cx="10439991" cy="227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0"/>
              </a:lnSpc>
            </a:pPr>
            <a:r>
              <a:rPr lang="en-US" sz="28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performance is influenced by a complex interplay of factors extending far beyond innate intelligence. Study habits, lifestyle choices, and learning environments all contribute significantly to exam outcomes.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317" y="5660231"/>
            <a:ext cx="10439991" cy="170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0"/>
              </a:lnSpc>
            </a:pPr>
            <a:r>
              <a:rPr lang="en-US" sz="28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data offers rich opportunities for analysis using machine learning techniques, enabling us to move beyond traditional assessment methods and uncover predictive patterns in student behaviour.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040191" y="2237480"/>
            <a:ext cx="5319865" cy="7093153"/>
            <a:chOff x="0" y="0"/>
            <a:chExt cx="7093153" cy="945753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093204" cy="9457563"/>
            </a:xfrm>
            <a:custGeom>
              <a:avLst/>
              <a:gdLst/>
              <a:ahLst/>
              <a:cxnLst/>
              <a:rect r="r" b="b" t="t" l="l"/>
              <a:pathLst>
                <a:path h="9457563" w="7093204">
                  <a:moveTo>
                    <a:pt x="0" y="0"/>
                  </a:moveTo>
                  <a:lnTo>
                    <a:pt x="7093204" y="0"/>
                  </a:lnTo>
                  <a:lnTo>
                    <a:pt x="7093204" y="9457563"/>
                  </a:lnTo>
                  <a:lnTo>
                    <a:pt x="0" y="9457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" t="0" r="-21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25281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Research Problem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506866"/>
            <a:ext cx="8009934" cy="3221384"/>
            <a:chOff x="0" y="0"/>
            <a:chExt cx="10679913" cy="4295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811" cy="4295140"/>
            </a:xfrm>
            <a:custGeom>
              <a:avLst/>
              <a:gdLst/>
              <a:ahLst/>
              <a:cxnLst/>
              <a:rect r="r" b="b" t="t" l="l"/>
              <a:pathLst>
                <a:path h="4295140" w="10679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4238498"/>
                  </a:lnTo>
                  <a:cubicBezTo>
                    <a:pt x="10679811" y="4269867"/>
                    <a:pt x="10654411" y="4295140"/>
                    <a:pt x="10623169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5759" y="2790377"/>
            <a:ext cx="850554" cy="850554"/>
            <a:chOff x="0" y="0"/>
            <a:chExt cx="1134072" cy="1134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509712" y="302418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7074" r="0" b="-1707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759" y="39054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Varied Performance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4413647"/>
            <a:ext cx="7442892" cy="104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with similar capabilities demonstrate markedly different academic outcomes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5684" y="2506866"/>
            <a:ext cx="8010077" cy="3221384"/>
            <a:chOff x="0" y="0"/>
            <a:chExt cx="10680103" cy="4295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80065" cy="4295140"/>
            </a:xfrm>
            <a:custGeom>
              <a:avLst/>
              <a:gdLst/>
              <a:ahLst/>
              <a:cxnLst/>
              <a:rect r="r" b="b" t="t" l="l"/>
              <a:pathLst>
                <a:path h="4295140" w="10680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4238498"/>
                  </a:lnTo>
                  <a:cubicBezTo>
                    <a:pt x="10680065" y="4269867"/>
                    <a:pt x="10654665" y="4295140"/>
                    <a:pt x="10623423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69206" y="2790377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803159" y="302418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59" r="0" b="-36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69206" y="39054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Behavioural Impact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69206" y="4413647"/>
            <a:ext cx="7443045" cy="104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habits and lifestyle choices significantly influence exam results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6011761"/>
            <a:ext cx="8009934" cy="3221384"/>
            <a:chOff x="0" y="0"/>
            <a:chExt cx="10679913" cy="42951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79811" cy="4295140"/>
            </a:xfrm>
            <a:custGeom>
              <a:avLst/>
              <a:gdLst/>
              <a:ahLst/>
              <a:cxnLst/>
              <a:rect r="r" b="b" t="t" l="l"/>
              <a:pathLst>
                <a:path h="4295140" w="10679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4238498"/>
                  </a:lnTo>
                  <a:cubicBezTo>
                    <a:pt x="10679811" y="4269867"/>
                    <a:pt x="10654411" y="4295140"/>
                    <a:pt x="10623169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5759" y="6295282"/>
            <a:ext cx="850554" cy="850554"/>
            <a:chOff x="0" y="0"/>
            <a:chExt cx="1134072" cy="1134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509712" y="652909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75759" y="741029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Predictive Gap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5759" y="7918552"/>
            <a:ext cx="7442892" cy="104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educational systems lack advanced predictive insights for early intervention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011761"/>
            <a:ext cx="8010077" cy="3221384"/>
            <a:chOff x="0" y="0"/>
            <a:chExt cx="10680103" cy="42951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80065" cy="4295140"/>
            </a:xfrm>
            <a:custGeom>
              <a:avLst/>
              <a:gdLst/>
              <a:ahLst/>
              <a:cxnLst/>
              <a:rect r="r" b="b" t="t" l="l"/>
              <a:pathLst>
                <a:path h="4295140" w="10680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4238498"/>
                  </a:lnTo>
                  <a:cubicBezTo>
                    <a:pt x="10680065" y="4269867"/>
                    <a:pt x="10654665" y="4295140"/>
                    <a:pt x="10623423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69206" y="6295282"/>
            <a:ext cx="850554" cy="850554"/>
            <a:chOff x="0" y="0"/>
            <a:chExt cx="1134072" cy="113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803159" y="652909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98" r="0" b="-6096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569206" y="741029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Data-Driven Solution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69206" y="7918552"/>
            <a:ext cx="7443045" cy="104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machine learning models to predict exam scores in advance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3704" y="-113696"/>
            <a:ext cx="19911637" cy="10716886"/>
            <a:chOff x="0" y="0"/>
            <a:chExt cx="210052641" cy="113055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9907872" cy="112910233"/>
            </a:xfrm>
            <a:custGeom>
              <a:avLst/>
              <a:gdLst/>
              <a:ahLst/>
              <a:cxnLst/>
              <a:rect r="r" b="b" t="t" l="l"/>
              <a:pathLst>
                <a:path h="112910233" w="209907872">
                  <a:moveTo>
                    <a:pt x="0" y="0"/>
                  </a:moveTo>
                  <a:lnTo>
                    <a:pt x="209907872" y="0"/>
                  </a:lnTo>
                  <a:lnTo>
                    <a:pt x="209907872" y="112910233"/>
                  </a:lnTo>
                  <a:lnTo>
                    <a:pt x="0" y="112910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052642" cy="113055016"/>
            </a:xfrm>
            <a:custGeom>
              <a:avLst/>
              <a:gdLst/>
              <a:ahLst/>
              <a:cxnLst/>
              <a:rect r="r" b="b" t="t" l="l"/>
              <a:pathLst>
                <a:path h="113055016" w="210052642">
                  <a:moveTo>
                    <a:pt x="209907857" y="112910231"/>
                  </a:moveTo>
                  <a:lnTo>
                    <a:pt x="210052642" y="112910231"/>
                  </a:lnTo>
                  <a:lnTo>
                    <a:pt x="210052642" y="113055016"/>
                  </a:lnTo>
                  <a:lnTo>
                    <a:pt x="209907857" y="113055016"/>
                  </a:lnTo>
                  <a:lnTo>
                    <a:pt x="209907857" y="1129102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12910231"/>
                  </a:lnTo>
                  <a:lnTo>
                    <a:pt x="0" y="112910231"/>
                  </a:lnTo>
                  <a:lnTo>
                    <a:pt x="0" y="144780"/>
                  </a:lnTo>
                  <a:close/>
                  <a:moveTo>
                    <a:pt x="0" y="112910231"/>
                  </a:moveTo>
                  <a:lnTo>
                    <a:pt x="144780" y="112910231"/>
                  </a:lnTo>
                  <a:lnTo>
                    <a:pt x="144780" y="113055016"/>
                  </a:lnTo>
                  <a:lnTo>
                    <a:pt x="0" y="113055016"/>
                  </a:lnTo>
                  <a:lnTo>
                    <a:pt x="0" y="112910231"/>
                  </a:lnTo>
                  <a:close/>
                  <a:moveTo>
                    <a:pt x="209907857" y="144780"/>
                  </a:moveTo>
                  <a:lnTo>
                    <a:pt x="210052642" y="144780"/>
                  </a:lnTo>
                  <a:lnTo>
                    <a:pt x="210052642" y="112910231"/>
                  </a:lnTo>
                  <a:lnTo>
                    <a:pt x="209907857" y="112910231"/>
                  </a:lnTo>
                  <a:lnTo>
                    <a:pt x="209907857" y="144780"/>
                  </a:lnTo>
                  <a:close/>
                  <a:moveTo>
                    <a:pt x="144780" y="112910231"/>
                  </a:moveTo>
                  <a:lnTo>
                    <a:pt x="209907857" y="112910231"/>
                  </a:lnTo>
                  <a:lnTo>
                    <a:pt x="209907857" y="113055016"/>
                  </a:lnTo>
                  <a:lnTo>
                    <a:pt x="144780" y="113055016"/>
                  </a:lnTo>
                  <a:lnTo>
                    <a:pt x="144780" y="112910231"/>
                  </a:lnTo>
                  <a:close/>
                  <a:moveTo>
                    <a:pt x="209907857" y="0"/>
                  </a:moveTo>
                  <a:lnTo>
                    <a:pt x="210052642" y="0"/>
                  </a:lnTo>
                  <a:lnTo>
                    <a:pt x="210052642" y="144780"/>
                  </a:lnTo>
                  <a:lnTo>
                    <a:pt x="209907857" y="144780"/>
                  </a:lnTo>
                  <a:lnTo>
                    <a:pt x="20990785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9907857" y="0"/>
                  </a:lnTo>
                  <a:lnTo>
                    <a:pt x="20990785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92238" y="1076620"/>
            <a:ext cx="5622846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Dataset Selection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73188" y="2397328"/>
            <a:ext cx="4619034" cy="3732609"/>
            <a:chOff x="0" y="0"/>
            <a:chExt cx="6158713" cy="49768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6107811" cy="4925949"/>
            </a:xfrm>
            <a:custGeom>
              <a:avLst/>
              <a:gdLst/>
              <a:ahLst/>
              <a:cxnLst/>
              <a:rect r="r" b="b" t="t" l="l"/>
              <a:pathLst>
                <a:path h="4925949" w="6107811">
                  <a:moveTo>
                    <a:pt x="0" y="56642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042" y="0"/>
                  </a:lnTo>
                  <a:cubicBezTo>
                    <a:pt x="6082411" y="0"/>
                    <a:pt x="6107811" y="25400"/>
                    <a:pt x="6107811" y="56642"/>
                  </a:cubicBezTo>
                  <a:lnTo>
                    <a:pt x="6107811" y="4869307"/>
                  </a:lnTo>
                  <a:cubicBezTo>
                    <a:pt x="6107811" y="4900676"/>
                    <a:pt x="6082411" y="4925949"/>
                    <a:pt x="6051042" y="4925949"/>
                  </a:cubicBezTo>
                  <a:lnTo>
                    <a:pt x="56769" y="4925949"/>
                  </a:lnTo>
                  <a:cubicBezTo>
                    <a:pt x="25400" y="4925949"/>
                    <a:pt x="0" y="4900549"/>
                    <a:pt x="0" y="4869307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58611" cy="4976749"/>
            </a:xfrm>
            <a:custGeom>
              <a:avLst/>
              <a:gdLst/>
              <a:ahLst/>
              <a:cxnLst/>
              <a:rect r="r" b="b" t="t" l="l"/>
              <a:pathLst>
                <a:path h="4976749" w="6158611">
                  <a:moveTo>
                    <a:pt x="0" y="82042"/>
                  </a:moveTo>
                  <a:cubicBezTo>
                    <a:pt x="0" y="36703"/>
                    <a:pt x="36830" y="0"/>
                    <a:pt x="82169" y="0"/>
                  </a:cubicBezTo>
                  <a:lnTo>
                    <a:pt x="6076442" y="0"/>
                  </a:lnTo>
                  <a:lnTo>
                    <a:pt x="6076442" y="25400"/>
                  </a:lnTo>
                  <a:lnTo>
                    <a:pt x="6076442" y="0"/>
                  </a:lnTo>
                  <a:cubicBezTo>
                    <a:pt x="6121781" y="0"/>
                    <a:pt x="6158611" y="36703"/>
                    <a:pt x="6158611" y="82042"/>
                  </a:cubicBezTo>
                  <a:lnTo>
                    <a:pt x="6133211" y="82042"/>
                  </a:lnTo>
                  <a:lnTo>
                    <a:pt x="6158611" y="82042"/>
                  </a:lnTo>
                  <a:lnTo>
                    <a:pt x="6158611" y="4894707"/>
                  </a:lnTo>
                  <a:lnTo>
                    <a:pt x="6133211" y="4894707"/>
                  </a:lnTo>
                  <a:lnTo>
                    <a:pt x="6158611" y="4894707"/>
                  </a:lnTo>
                  <a:cubicBezTo>
                    <a:pt x="6158611" y="4940046"/>
                    <a:pt x="6121781" y="4976749"/>
                    <a:pt x="6076442" y="4976749"/>
                  </a:cubicBezTo>
                  <a:lnTo>
                    <a:pt x="6076442" y="4951349"/>
                  </a:lnTo>
                  <a:lnTo>
                    <a:pt x="6076442" y="4976749"/>
                  </a:lnTo>
                  <a:lnTo>
                    <a:pt x="82169" y="4976749"/>
                  </a:lnTo>
                  <a:lnTo>
                    <a:pt x="82169" y="4951349"/>
                  </a:lnTo>
                  <a:lnTo>
                    <a:pt x="82169" y="4976749"/>
                  </a:lnTo>
                  <a:cubicBezTo>
                    <a:pt x="36830" y="4976749"/>
                    <a:pt x="0" y="4940046"/>
                    <a:pt x="0" y="4894707"/>
                  </a:cubicBezTo>
                  <a:lnTo>
                    <a:pt x="0" y="82042"/>
                  </a:lnTo>
                  <a:lnTo>
                    <a:pt x="25400" y="82042"/>
                  </a:lnTo>
                  <a:lnTo>
                    <a:pt x="0" y="82042"/>
                  </a:lnTo>
                  <a:moveTo>
                    <a:pt x="50800" y="82042"/>
                  </a:moveTo>
                  <a:lnTo>
                    <a:pt x="50800" y="4894707"/>
                  </a:lnTo>
                  <a:lnTo>
                    <a:pt x="25400" y="4894707"/>
                  </a:lnTo>
                  <a:lnTo>
                    <a:pt x="50800" y="4894707"/>
                  </a:lnTo>
                  <a:cubicBezTo>
                    <a:pt x="50800" y="4911979"/>
                    <a:pt x="64770" y="4925949"/>
                    <a:pt x="82169" y="4925949"/>
                  </a:cubicBezTo>
                  <a:lnTo>
                    <a:pt x="6076442" y="4925949"/>
                  </a:lnTo>
                  <a:cubicBezTo>
                    <a:pt x="6093841" y="4925949"/>
                    <a:pt x="6107811" y="4911852"/>
                    <a:pt x="6107811" y="4894707"/>
                  </a:cubicBezTo>
                  <a:lnTo>
                    <a:pt x="6107811" y="82042"/>
                  </a:lnTo>
                  <a:cubicBezTo>
                    <a:pt x="6107811" y="64770"/>
                    <a:pt x="6093841" y="50800"/>
                    <a:pt x="6076442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897"/>
                    <a:pt x="50800" y="82042"/>
                  </a:cubicBezTo>
                  <a:close/>
                </a:path>
              </a:pathLst>
            </a:custGeom>
            <a:solidFill>
              <a:srgbClr val="C6C6D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13859" y="2718940"/>
            <a:ext cx="239851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Kaggle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3859" y="3265284"/>
            <a:ext cx="393769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939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Exam_Score_Prediction.csv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859" y="3850929"/>
            <a:ext cx="3937692" cy="211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dataset containing student demographic, lifestyle, and academic details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837634" y="2397328"/>
            <a:ext cx="4619177" cy="3732609"/>
            <a:chOff x="0" y="0"/>
            <a:chExt cx="6158903" cy="49768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108065" cy="4925949"/>
            </a:xfrm>
            <a:custGeom>
              <a:avLst/>
              <a:gdLst/>
              <a:ahLst/>
              <a:cxnLst/>
              <a:rect r="r" b="b" t="t" l="l"/>
              <a:pathLst>
                <a:path h="4925949" w="6108065">
                  <a:moveTo>
                    <a:pt x="0" y="56642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296" y="0"/>
                  </a:lnTo>
                  <a:cubicBezTo>
                    <a:pt x="6082665" y="0"/>
                    <a:pt x="6108065" y="25400"/>
                    <a:pt x="6108065" y="56642"/>
                  </a:cubicBezTo>
                  <a:lnTo>
                    <a:pt x="6108065" y="4869307"/>
                  </a:lnTo>
                  <a:cubicBezTo>
                    <a:pt x="6108065" y="4900676"/>
                    <a:pt x="6082665" y="4925949"/>
                    <a:pt x="6051296" y="4925949"/>
                  </a:cubicBezTo>
                  <a:lnTo>
                    <a:pt x="56769" y="4925949"/>
                  </a:lnTo>
                  <a:cubicBezTo>
                    <a:pt x="25400" y="4925949"/>
                    <a:pt x="0" y="4900549"/>
                    <a:pt x="0" y="4869307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58865" cy="4976749"/>
            </a:xfrm>
            <a:custGeom>
              <a:avLst/>
              <a:gdLst/>
              <a:ahLst/>
              <a:cxnLst/>
              <a:rect r="r" b="b" t="t" l="l"/>
              <a:pathLst>
                <a:path h="4976749" w="6158865">
                  <a:moveTo>
                    <a:pt x="0" y="82042"/>
                  </a:moveTo>
                  <a:cubicBezTo>
                    <a:pt x="0" y="36703"/>
                    <a:pt x="36830" y="0"/>
                    <a:pt x="82169" y="0"/>
                  </a:cubicBezTo>
                  <a:lnTo>
                    <a:pt x="6076696" y="0"/>
                  </a:lnTo>
                  <a:lnTo>
                    <a:pt x="6076696" y="25400"/>
                  </a:lnTo>
                  <a:lnTo>
                    <a:pt x="6076696" y="0"/>
                  </a:lnTo>
                  <a:cubicBezTo>
                    <a:pt x="6122035" y="0"/>
                    <a:pt x="6158865" y="36703"/>
                    <a:pt x="6158865" y="82042"/>
                  </a:cubicBezTo>
                  <a:lnTo>
                    <a:pt x="6133465" y="82042"/>
                  </a:lnTo>
                  <a:lnTo>
                    <a:pt x="6158865" y="82042"/>
                  </a:lnTo>
                  <a:lnTo>
                    <a:pt x="6158865" y="4894707"/>
                  </a:lnTo>
                  <a:lnTo>
                    <a:pt x="6133465" y="4894707"/>
                  </a:lnTo>
                  <a:lnTo>
                    <a:pt x="6158865" y="4894707"/>
                  </a:lnTo>
                  <a:cubicBezTo>
                    <a:pt x="6158865" y="4940046"/>
                    <a:pt x="6122035" y="4976749"/>
                    <a:pt x="6076696" y="4976749"/>
                  </a:cubicBezTo>
                  <a:lnTo>
                    <a:pt x="6076696" y="4951349"/>
                  </a:lnTo>
                  <a:lnTo>
                    <a:pt x="6076696" y="4976749"/>
                  </a:lnTo>
                  <a:lnTo>
                    <a:pt x="82169" y="4976749"/>
                  </a:lnTo>
                  <a:lnTo>
                    <a:pt x="82169" y="4951349"/>
                  </a:lnTo>
                  <a:lnTo>
                    <a:pt x="82169" y="4976749"/>
                  </a:lnTo>
                  <a:cubicBezTo>
                    <a:pt x="36830" y="4976749"/>
                    <a:pt x="0" y="4940046"/>
                    <a:pt x="0" y="4894707"/>
                  </a:cubicBezTo>
                  <a:lnTo>
                    <a:pt x="0" y="82042"/>
                  </a:lnTo>
                  <a:lnTo>
                    <a:pt x="25400" y="82042"/>
                  </a:lnTo>
                  <a:lnTo>
                    <a:pt x="0" y="82042"/>
                  </a:lnTo>
                  <a:moveTo>
                    <a:pt x="50800" y="82042"/>
                  </a:moveTo>
                  <a:lnTo>
                    <a:pt x="50800" y="4894707"/>
                  </a:lnTo>
                  <a:lnTo>
                    <a:pt x="25400" y="4894707"/>
                  </a:lnTo>
                  <a:lnTo>
                    <a:pt x="50800" y="4894707"/>
                  </a:lnTo>
                  <a:cubicBezTo>
                    <a:pt x="50800" y="4911979"/>
                    <a:pt x="64770" y="4925949"/>
                    <a:pt x="82169" y="4925949"/>
                  </a:cubicBezTo>
                  <a:lnTo>
                    <a:pt x="6076696" y="4925949"/>
                  </a:lnTo>
                  <a:cubicBezTo>
                    <a:pt x="6094095" y="4925949"/>
                    <a:pt x="6108065" y="4911852"/>
                    <a:pt x="6108065" y="4894707"/>
                  </a:cubicBezTo>
                  <a:lnTo>
                    <a:pt x="6108065" y="82042"/>
                  </a:lnTo>
                  <a:cubicBezTo>
                    <a:pt x="6108065" y="64770"/>
                    <a:pt x="6094095" y="50800"/>
                    <a:pt x="6076696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897"/>
                    <a:pt x="50800" y="82042"/>
                  </a:cubicBezTo>
                  <a:close/>
                </a:path>
              </a:pathLst>
            </a:custGeom>
            <a:solidFill>
              <a:srgbClr val="C6C6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78306" y="271894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Target Variable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78306" y="3265284"/>
            <a:ext cx="393784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939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 scores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8306" y="3850929"/>
            <a:ext cx="3937845" cy="158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numerical values representing student performance outcomes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3188" y="6375349"/>
            <a:ext cx="9483623" cy="2825353"/>
            <a:chOff x="0" y="0"/>
            <a:chExt cx="12644831" cy="37671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2594082" cy="3716401"/>
            </a:xfrm>
            <a:custGeom>
              <a:avLst/>
              <a:gdLst/>
              <a:ahLst/>
              <a:cxnLst/>
              <a:rect r="r" b="b" t="t" l="l"/>
              <a:pathLst>
                <a:path h="3716401" w="12594082">
                  <a:moveTo>
                    <a:pt x="0" y="56769"/>
                  </a:moveTo>
                  <a:cubicBezTo>
                    <a:pt x="0" y="25400"/>
                    <a:pt x="25654" y="0"/>
                    <a:pt x="57277" y="0"/>
                  </a:cubicBezTo>
                  <a:lnTo>
                    <a:pt x="12536805" y="0"/>
                  </a:lnTo>
                  <a:cubicBezTo>
                    <a:pt x="12568428" y="0"/>
                    <a:pt x="12594082" y="25400"/>
                    <a:pt x="12594082" y="56769"/>
                  </a:cubicBezTo>
                  <a:lnTo>
                    <a:pt x="12594082" y="3659632"/>
                  </a:lnTo>
                  <a:cubicBezTo>
                    <a:pt x="12594082" y="3691001"/>
                    <a:pt x="12568428" y="3716401"/>
                    <a:pt x="12536805" y="3716401"/>
                  </a:cubicBezTo>
                  <a:lnTo>
                    <a:pt x="57277" y="3716401"/>
                  </a:lnTo>
                  <a:cubicBezTo>
                    <a:pt x="25654" y="3716401"/>
                    <a:pt x="0" y="3691001"/>
                    <a:pt x="0" y="3659632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44882" cy="3767201"/>
            </a:xfrm>
            <a:custGeom>
              <a:avLst/>
              <a:gdLst/>
              <a:ahLst/>
              <a:cxnLst/>
              <a:rect r="r" b="b" t="t" l="l"/>
              <a:pathLst>
                <a:path h="3767201" w="12644882">
                  <a:moveTo>
                    <a:pt x="0" y="82169"/>
                  </a:moveTo>
                  <a:cubicBezTo>
                    <a:pt x="0" y="36576"/>
                    <a:pt x="37211" y="0"/>
                    <a:pt x="82677" y="0"/>
                  </a:cubicBezTo>
                  <a:lnTo>
                    <a:pt x="12562205" y="0"/>
                  </a:lnTo>
                  <a:lnTo>
                    <a:pt x="12562205" y="25400"/>
                  </a:lnTo>
                  <a:lnTo>
                    <a:pt x="12562205" y="0"/>
                  </a:lnTo>
                  <a:cubicBezTo>
                    <a:pt x="12607672" y="0"/>
                    <a:pt x="12644882" y="36576"/>
                    <a:pt x="12644882" y="82169"/>
                  </a:cubicBezTo>
                  <a:lnTo>
                    <a:pt x="12619482" y="82169"/>
                  </a:lnTo>
                  <a:lnTo>
                    <a:pt x="12644882" y="82169"/>
                  </a:lnTo>
                  <a:lnTo>
                    <a:pt x="12644882" y="3685032"/>
                  </a:lnTo>
                  <a:lnTo>
                    <a:pt x="12619482" y="3685032"/>
                  </a:lnTo>
                  <a:lnTo>
                    <a:pt x="12644882" y="3685032"/>
                  </a:lnTo>
                  <a:cubicBezTo>
                    <a:pt x="12644882" y="3730625"/>
                    <a:pt x="12607672" y="3767201"/>
                    <a:pt x="12562205" y="3767201"/>
                  </a:cubicBezTo>
                  <a:lnTo>
                    <a:pt x="12562205" y="3741801"/>
                  </a:lnTo>
                  <a:lnTo>
                    <a:pt x="12562205" y="3767201"/>
                  </a:lnTo>
                  <a:lnTo>
                    <a:pt x="82677" y="3767201"/>
                  </a:lnTo>
                  <a:lnTo>
                    <a:pt x="82677" y="3741801"/>
                  </a:lnTo>
                  <a:lnTo>
                    <a:pt x="82677" y="3767201"/>
                  </a:lnTo>
                  <a:cubicBezTo>
                    <a:pt x="37211" y="3767201"/>
                    <a:pt x="0" y="3730625"/>
                    <a:pt x="0" y="3685032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3685032"/>
                  </a:lnTo>
                  <a:lnTo>
                    <a:pt x="25400" y="3685032"/>
                  </a:lnTo>
                  <a:lnTo>
                    <a:pt x="50800" y="3685032"/>
                  </a:lnTo>
                  <a:cubicBezTo>
                    <a:pt x="50800" y="3702050"/>
                    <a:pt x="64770" y="3716401"/>
                    <a:pt x="82677" y="3716401"/>
                  </a:cubicBezTo>
                  <a:lnTo>
                    <a:pt x="12562205" y="3716401"/>
                  </a:lnTo>
                  <a:cubicBezTo>
                    <a:pt x="12579986" y="3716401"/>
                    <a:pt x="12594082" y="3702177"/>
                    <a:pt x="12594082" y="3685032"/>
                  </a:cubicBezTo>
                  <a:lnTo>
                    <a:pt x="12594082" y="82169"/>
                  </a:lnTo>
                  <a:cubicBezTo>
                    <a:pt x="12594082" y="65151"/>
                    <a:pt x="12580112" y="50800"/>
                    <a:pt x="12562205" y="50800"/>
                  </a:cubicBezTo>
                  <a:lnTo>
                    <a:pt x="82677" y="50800"/>
                  </a:lnTo>
                  <a:lnTo>
                    <a:pt x="82677" y="25400"/>
                  </a:lnTo>
                  <a:lnTo>
                    <a:pt x="82677" y="50800"/>
                  </a:lnTo>
                  <a:cubicBezTo>
                    <a:pt x="64770" y="50800"/>
                    <a:pt x="50800" y="65024"/>
                    <a:pt x="50800" y="82169"/>
                  </a:cubicBezTo>
                  <a:close/>
                </a:path>
              </a:pathLst>
            </a:custGeom>
            <a:solidFill>
              <a:srgbClr val="C6C6D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13859" y="6696970"/>
            <a:ext cx="5004543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Quality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3859" y="7248673"/>
            <a:ext cx="880229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939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 and ready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3859" y="7828959"/>
            <a:ext cx="8802291" cy="104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immediate statistical and predictive analysis without preprocessing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704462" y="4336173"/>
            <a:ext cx="7229284" cy="2195895"/>
          </a:xfrm>
          <a:custGeom>
            <a:avLst/>
            <a:gdLst/>
            <a:ahLst/>
            <a:cxnLst/>
            <a:rect r="r" b="b" t="t" l="l"/>
            <a:pathLst>
              <a:path h="2195895" w="7229284">
                <a:moveTo>
                  <a:pt x="0" y="0"/>
                </a:moveTo>
                <a:lnTo>
                  <a:pt x="7229283" y="0"/>
                </a:lnTo>
                <a:lnTo>
                  <a:pt x="7229283" y="2195895"/>
                </a:lnTo>
                <a:lnTo>
                  <a:pt x="0" y="2195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4729" y="721519"/>
            <a:ext cx="7956794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Exploration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4729" y="2807646"/>
            <a:ext cx="3409950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Quality Assessment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4729" y="3410398"/>
            <a:ext cx="5299767" cy="147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801" indent="-190400" lvl="1">
              <a:lnSpc>
                <a:spcPts val="3936"/>
              </a:lnSpc>
              <a:buFont typeface="Arial"/>
              <a:buChar char="•"/>
            </a:pPr>
            <a:r>
              <a:rPr lang="en-US" sz="252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absence of missing values</a:t>
            </a:r>
          </a:p>
          <a:p>
            <a:pPr algn="l" marL="380801" indent="-190400" lvl="1">
              <a:lnSpc>
                <a:spcPts val="3936"/>
              </a:lnSpc>
              <a:buFont typeface="Arial"/>
              <a:buChar char="•"/>
            </a:pPr>
            <a:r>
              <a:rPr lang="en-US" sz="252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for duplicate entries</a:t>
            </a:r>
          </a:p>
          <a:p>
            <a:pPr algn="l" marL="380801" indent="-190400" lvl="1">
              <a:lnSpc>
                <a:spcPts val="3936"/>
              </a:lnSpc>
              <a:buFont typeface="Arial"/>
              <a:buChar char="•"/>
            </a:pPr>
            <a:r>
              <a:rPr lang="en-US" sz="252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Confirmed data consistency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4729" y="5226691"/>
            <a:ext cx="3409950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Statistical Patterns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729" y="5829452"/>
            <a:ext cx="5299767" cy="197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801" indent="-190400" lvl="1">
              <a:lnSpc>
                <a:spcPts val="3936"/>
              </a:lnSpc>
              <a:buFont typeface="Arial"/>
              <a:buChar char="•"/>
            </a:pPr>
            <a:r>
              <a:rPr lang="en-US" sz="252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scores follow near-normal distribution</a:t>
            </a:r>
          </a:p>
          <a:p>
            <a:pPr algn="l" marL="380801" indent="-190400" lvl="1">
              <a:lnSpc>
                <a:spcPts val="3936"/>
              </a:lnSpc>
              <a:buFont typeface="Arial"/>
              <a:buChar char="•"/>
            </a:pPr>
            <a:r>
              <a:rPr lang="en-US" sz="252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correlations among academic features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929590" y="2291505"/>
            <a:ext cx="10413054" cy="5811888"/>
            <a:chOff x="0" y="0"/>
            <a:chExt cx="13884072" cy="774918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3884021" cy="7749159"/>
            </a:xfrm>
            <a:custGeom>
              <a:avLst/>
              <a:gdLst/>
              <a:ahLst/>
              <a:cxnLst/>
              <a:rect r="r" b="b" t="t" l="l"/>
              <a:pathLst>
                <a:path h="7749159" w="13884021">
                  <a:moveTo>
                    <a:pt x="0" y="0"/>
                  </a:moveTo>
                  <a:lnTo>
                    <a:pt x="13884021" y="0"/>
                  </a:lnTo>
                  <a:lnTo>
                    <a:pt x="13884021" y="7749159"/>
                  </a:lnTo>
                  <a:lnTo>
                    <a:pt x="0" y="7749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4729" y="8589169"/>
            <a:ext cx="16378533" cy="98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252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Visualizations employed included histograms for distribution analysis, boxplots for outlier detection, and correlation heatmaps for feature relationships.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5088" y="769439"/>
            <a:ext cx="7626696" cy="85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Selection Strategy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5088" y="2000993"/>
            <a:ext cx="801586" cy="1428750"/>
            <a:chOff x="0" y="0"/>
            <a:chExt cx="1068781" cy="1905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68832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68832">
                  <a:moveTo>
                    <a:pt x="0" y="0"/>
                  </a:moveTo>
                  <a:lnTo>
                    <a:pt x="1068832" y="0"/>
                  </a:lnTo>
                  <a:lnTo>
                    <a:pt x="106883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3" r="4" b="-9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988344" y="2258616"/>
            <a:ext cx="3339998" cy="42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 Type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344" y="2722359"/>
            <a:ext cx="8506568" cy="4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5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Predicting continuous numerical values (exam scores)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35881" y="3855834"/>
            <a:ext cx="801586" cy="1428750"/>
            <a:chOff x="0" y="0"/>
            <a:chExt cx="1068781" cy="1905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68832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68832">
                  <a:moveTo>
                    <a:pt x="0" y="0"/>
                  </a:moveTo>
                  <a:lnTo>
                    <a:pt x="1068832" y="0"/>
                  </a:lnTo>
                  <a:lnTo>
                    <a:pt x="106883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3" r="4" b="-9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389137" y="4113457"/>
            <a:ext cx="3339998" cy="42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Choice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89137" y="4577210"/>
            <a:ext cx="8105775" cy="4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5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Regression selected as primary algorithm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36674" y="5710685"/>
            <a:ext cx="801586" cy="1428750"/>
            <a:chOff x="0" y="0"/>
            <a:chExt cx="1068781" cy="1905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68832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68832">
                  <a:moveTo>
                    <a:pt x="0" y="0"/>
                  </a:moveTo>
                  <a:lnTo>
                    <a:pt x="1068832" y="0"/>
                  </a:lnTo>
                  <a:lnTo>
                    <a:pt x="106883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3" r="4" b="-9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789930" y="5968308"/>
            <a:ext cx="3339998" cy="42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Justification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89930" y="6432052"/>
            <a:ext cx="7704982" cy="100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5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interpretable, and effective for numerical prediction tasks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137467" y="7895330"/>
            <a:ext cx="801586" cy="1428750"/>
            <a:chOff x="0" y="0"/>
            <a:chExt cx="1068781" cy="1905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68832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68832">
                  <a:moveTo>
                    <a:pt x="0" y="0"/>
                  </a:moveTo>
                  <a:lnTo>
                    <a:pt x="1068832" y="0"/>
                  </a:lnTo>
                  <a:lnTo>
                    <a:pt x="106883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3" r="4" b="-9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190723" y="8152952"/>
            <a:ext cx="3339998" cy="42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Implementation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90723" y="8616706"/>
            <a:ext cx="7304189" cy="4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5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trained using train-test split methodology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66965"/>
            <a:ext cx="6849189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Feature Engineering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648541"/>
            <a:ext cx="8151762" cy="1134066"/>
            <a:chOff x="0" y="0"/>
            <a:chExt cx="10869016" cy="15120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" t="0" r="-35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5759" y="40470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Encoding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4564856"/>
            <a:ext cx="7584729" cy="100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 transformed using Label Encoding techniques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2648541"/>
            <a:ext cx="8151762" cy="1134066"/>
            <a:chOff x="0" y="0"/>
            <a:chExt cx="10869016" cy="151208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" t="0" r="-35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27521" y="40470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Selection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7521" y="4564856"/>
            <a:ext cx="7584729" cy="49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Irrelevant identifiers (student_id) removed from analysis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5869934"/>
            <a:ext cx="8151762" cy="1134066"/>
            <a:chOff x="0" y="0"/>
            <a:chExt cx="10869016" cy="151208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" t="0" r="-35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75759" y="726847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Features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5759" y="7786240"/>
            <a:ext cx="7584729" cy="100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hours, attendance, sleep quality, and learning resources retained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0" y="5869934"/>
            <a:ext cx="8151762" cy="1134066"/>
            <a:chOff x="0" y="0"/>
            <a:chExt cx="10869016" cy="151208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" t="0" r="-35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27521" y="726847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Ready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7521" y="7786240"/>
            <a:ext cx="7584729" cy="49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prepared for machine learning input format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9811" y="1241974"/>
            <a:ext cx="8531186" cy="75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Analysis and </a:t>
            </a:r>
            <a:r>
              <a:rPr lang="en-US" sz="4750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9811" y="2539603"/>
            <a:ext cx="3642417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Metrics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9811" y="3602384"/>
            <a:ext cx="3894982" cy="2547642"/>
            <a:chOff x="0" y="0"/>
            <a:chExt cx="5193309" cy="3396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93284" cy="3396869"/>
            </a:xfrm>
            <a:custGeom>
              <a:avLst/>
              <a:gdLst/>
              <a:ahLst/>
              <a:cxnLst/>
              <a:rect r="r" b="b" t="t" l="l"/>
              <a:pathLst>
                <a:path h="3396869" w="51932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10404" y="0"/>
                  </a:lnTo>
                  <a:cubicBezTo>
                    <a:pt x="5111369" y="0"/>
                    <a:pt x="5193284" y="81915"/>
                    <a:pt x="5193284" y="182880"/>
                  </a:cubicBezTo>
                  <a:lnTo>
                    <a:pt x="5193284" y="3213989"/>
                  </a:lnTo>
                  <a:cubicBezTo>
                    <a:pt x="5193284" y="3314954"/>
                    <a:pt x="5111369" y="3396869"/>
                    <a:pt x="5010404" y="3396869"/>
                  </a:cubicBezTo>
                  <a:lnTo>
                    <a:pt x="182880" y="3396869"/>
                  </a:lnTo>
                  <a:cubicBezTo>
                    <a:pt x="81915" y="3396869"/>
                    <a:pt x="0" y="3314954"/>
                    <a:pt x="0" y="3213989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9811" y="3573809"/>
            <a:ext cx="3894982" cy="114300"/>
            <a:chOff x="0" y="0"/>
            <a:chExt cx="5193309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93284" cy="152400"/>
            </a:xfrm>
            <a:custGeom>
              <a:avLst/>
              <a:gdLst/>
              <a:ahLst/>
              <a:cxnLst/>
              <a:rect r="r" b="b" t="t" l="l"/>
              <a:pathLst>
                <a:path h="152400" w="5193284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5144770" y="0"/>
                  </a:lnTo>
                  <a:cubicBezTo>
                    <a:pt x="5171567" y="0"/>
                    <a:pt x="5193284" y="21717"/>
                    <a:pt x="5193284" y="48514"/>
                  </a:cubicBezTo>
                  <a:lnTo>
                    <a:pt x="5193284" y="103886"/>
                  </a:lnTo>
                  <a:cubicBezTo>
                    <a:pt x="5193284" y="130683"/>
                    <a:pt x="5171567" y="152400"/>
                    <a:pt x="5144770" y="152400"/>
                  </a:cubicBezTo>
                  <a:lnTo>
                    <a:pt x="48514" y="152400"/>
                  </a:lnTo>
                  <a:cubicBezTo>
                    <a:pt x="21717" y="152400"/>
                    <a:pt x="0" y="130683"/>
                    <a:pt x="0" y="103886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33047" y="3238205"/>
            <a:ext cx="728367" cy="728367"/>
            <a:chOff x="0" y="0"/>
            <a:chExt cx="971156" cy="9711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1169" cy="971169"/>
            </a:xfrm>
            <a:custGeom>
              <a:avLst/>
              <a:gdLst/>
              <a:ahLst/>
              <a:cxnLst/>
              <a:rect r="r" b="b" t="t" l="l"/>
              <a:pathLst>
                <a:path h="971169" w="971169">
                  <a:moveTo>
                    <a:pt x="0" y="485521"/>
                  </a:moveTo>
                  <a:cubicBezTo>
                    <a:pt x="0" y="217424"/>
                    <a:pt x="217424" y="0"/>
                    <a:pt x="485521" y="0"/>
                  </a:cubicBezTo>
                  <a:cubicBezTo>
                    <a:pt x="753618" y="0"/>
                    <a:pt x="971169" y="217424"/>
                    <a:pt x="971169" y="485521"/>
                  </a:cubicBezTo>
                  <a:cubicBezTo>
                    <a:pt x="971169" y="753618"/>
                    <a:pt x="753745" y="971169"/>
                    <a:pt x="485521" y="971169"/>
                  </a:cubicBezTo>
                  <a:cubicBezTo>
                    <a:pt x="217297" y="971169"/>
                    <a:pt x="0" y="753745"/>
                    <a:pt x="0" y="485521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651522" y="3363068"/>
            <a:ext cx="291255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249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1121" y="4190409"/>
            <a:ext cx="3035351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R² Score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1121" y="4711151"/>
            <a:ext cx="3352352" cy="139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proportion of variance explained by the model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952705" y="3602384"/>
            <a:ext cx="3895134" cy="2547642"/>
            <a:chOff x="0" y="0"/>
            <a:chExt cx="5193513" cy="3396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93538" cy="3396869"/>
            </a:xfrm>
            <a:custGeom>
              <a:avLst/>
              <a:gdLst/>
              <a:ahLst/>
              <a:cxnLst/>
              <a:rect r="r" b="b" t="t" l="l"/>
              <a:pathLst>
                <a:path h="3396869" w="519353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10658" y="0"/>
                  </a:lnTo>
                  <a:cubicBezTo>
                    <a:pt x="5111623" y="0"/>
                    <a:pt x="5193538" y="81915"/>
                    <a:pt x="5193538" y="182880"/>
                  </a:cubicBezTo>
                  <a:lnTo>
                    <a:pt x="5193538" y="3213989"/>
                  </a:lnTo>
                  <a:cubicBezTo>
                    <a:pt x="5193538" y="3314954"/>
                    <a:pt x="5111623" y="3396869"/>
                    <a:pt x="5010658" y="3396869"/>
                  </a:cubicBezTo>
                  <a:lnTo>
                    <a:pt x="182880" y="3396869"/>
                  </a:lnTo>
                  <a:cubicBezTo>
                    <a:pt x="81915" y="3396869"/>
                    <a:pt x="0" y="3314954"/>
                    <a:pt x="0" y="3213989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52705" y="3573809"/>
            <a:ext cx="3895134" cy="114300"/>
            <a:chOff x="0" y="0"/>
            <a:chExt cx="5193513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93411" cy="152400"/>
            </a:xfrm>
            <a:custGeom>
              <a:avLst/>
              <a:gdLst/>
              <a:ahLst/>
              <a:cxnLst/>
              <a:rect r="r" b="b" t="t" l="l"/>
              <a:pathLst>
                <a:path h="152400" w="5193411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5144897" y="0"/>
                  </a:lnTo>
                  <a:cubicBezTo>
                    <a:pt x="5171694" y="0"/>
                    <a:pt x="5193411" y="21717"/>
                    <a:pt x="5193411" y="48514"/>
                  </a:cubicBezTo>
                  <a:lnTo>
                    <a:pt x="5193411" y="103886"/>
                  </a:lnTo>
                  <a:cubicBezTo>
                    <a:pt x="5193411" y="130683"/>
                    <a:pt x="5171694" y="152400"/>
                    <a:pt x="5144897" y="152400"/>
                  </a:cubicBezTo>
                  <a:lnTo>
                    <a:pt x="48514" y="152400"/>
                  </a:lnTo>
                  <a:cubicBezTo>
                    <a:pt x="21717" y="152400"/>
                    <a:pt x="0" y="130683"/>
                    <a:pt x="0" y="103886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36084" y="3238205"/>
            <a:ext cx="728367" cy="728367"/>
            <a:chOff x="0" y="0"/>
            <a:chExt cx="971156" cy="9711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1169" cy="971169"/>
            </a:xfrm>
            <a:custGeom>
              <a:avLst/>
              <a:gdLst/>
              <a:ahLst/>
              <a:cxnLst/>
              <a:rect r="r" b="b" t="t" l="l"/>
              <a:pathLst>
                <a:path h="971169" w="971169">
                  <a:moveTo>
                    <a:pt x="0" y="485521"/>
                  </a:moveTo>
                  <a:cubicBezTo>
                    <a:pt x="0" y="217424"/>
                    <a:pt x="217424" y="0"/>
                    <a:pt x="485521" y="0"/>
                  </a:cubicBezTo>
                  <a:cubicBezTo>
                    <a:pt x="753618" y="0"/>
                    <a:pt x="971169" y="217424"/>
                    <a:pt x="971169" y="485521"/>
                  </a:cubicBezTo>
                  <a:cubicBezTo>
                    <a:pt x="971169" y="753618"/>
                    <a:pt x="753745" y="971169"/>
                    <a:pt x="485521" y="971169"/>
                  </a:cubicBezTo>
                  <a:cubicBezTo>
                    <a:pt x="217297" y="971169"/>
                    <a:pt x="0" y="753745"/>
                    <a:pt x="0" y="485521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754568" y="3363068"/>
            <a:ext cx="291255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249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24015" y="4190409"/>
            <a:ext cx="3035351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Mean Squared Error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24015" y="4720676"/>
            <a:ext cx="3352505" cy="132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Quantifies average squared difference between predicted and actual values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49695" y="2539603"/>
            <a:ext cx="3642417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Statistical Tests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49695" y="3602384"/>
            <a:ext cx="3894982" cy="2187026"/>
            <a:chOff x="0" y="0"/>
            <a:chExt cx="5193309" cy="29160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93284" cy="2916047"/>
            </a:xfrm>
            <a:custGeom>
              <a:avLst/>
              <a:gdLst/>
              <a:ahLst/>
              <a:cxnLst/>
              <a:rect r="r" b="b" t="t" l="l"/>
              <a:pathLst>
                <a:path h="2916047" w="51932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10404" y="0"/>
                  </a:lnTo>
                  <a:cubicBezTo>
                    <a:pt x="5111369" y="0"/>
                    <a:pt x="5193284" y="81915"/>
                    <a:pt x="5193284" y="182880"/>
                  </a:cubicBezTo>
                  <a:lnTo>
                    <a:pt x="5193284" y="2733167"/>
                  </a:lnTo>
                  <a:cubicBezTo>
                    <a:pt x="5193284" y="2834132"/>
                    <a:pt x="5111369" y="2916047"/>
                    <a:pt x="5010404" y="2916047"/>
                  </a:cubicBezTo>
                  <a:lnTo>
                    <a:pt x="182880" y="2916047"/>
                  </a:lnTo>
                  <a:cubicBezTo>
                    <a:pt x="81915" y="2916047"/>
                    <a:pt x="0" y="2834132"/>
                    <a:pt x="0" y="2733167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449695" y="3573809"/>
            <a:ext cx="3894982" cy="114300"/>
            <a:chOff x="0" y="0"/>
            <a:chExt cx="5193309" cy="152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93284" cy="152400"/>
            </a:xfrm>
            <a:custGeom>
              <a:avLst/>
              <a:gdLst/>
              <a:ahLst/>
              <a:cxnLst/>
              <a:rect r="r" b="b" t="t" l="l"/>
              <a:pathLst>
                <a:path h="152400" w="5193284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5144770" y="0"/>
                  </a:lnTo>
                  <a:cubicBezTo>
                    <a:pt x="5171567" y="0"/>
                    <a:pt x="5193284" y="21717"/>
                    <a:pt x="5193284" y="48514"/>
                  </a:cubicBezTo>
                  <a:lnTo>
                    <a:pt x="5193284" y="103886"/>
                  </a:lnTo>
                  <a:cubicBezTo>
                    <a:pt x="5193284" y="130683"/>
                    <a:pt x="5171567" y="152400"/>
                    <a:pt x="5144770" y="152400"/>
                  </a:cubicBezTo>
                  <a:lnTo>
                    <a:pt x="48514" y="152400"/>
                  </a:lnTo>
                  <a:cubicBezTo>
                    <a:pt x="21717" y="152400"/>
                    <a:pt x="0" y="130683"/>
                    <a:pt x="0" y="103886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032922" y="3238205"/>
            <a:ext cx="728367" cy="728367"/>
            <a:chOff x="0" y="0"/>
            <a:chExt cx="971156" cy="9711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1169" cy="971169"/>
            </a:xfrm>
            <a:custGeom>
              <a:avLst/>
              <a:gdLst/>
              <a:ahLst/>
              <a:cxnLst/>
              <a:rect r="r" b="b" t="t" l="l"/>
              <a:pathLst>
                <a:path h="971169" w="971169">
                  <a:moveTo>
                    <a:pt x="0" y="485521"/>
                  </a:moveTo>
                  <a:cubicBezTo>
                    <a:pt x="0" y="217424"/>
                    <a:pt x="217424" y="0"/>
                    <a:pt x="485521" y="0"/>
                  </a:cubicBezTo>
                  <a:cubicBezTo>
                    <a:pt x="753618" y="0"/>
                    <a:pt x="971169" y="217424"/>
                    <a:pt x="971169" y="485521"/>
                  </a:cubicBezTo>
                  <a:cubicBezTo>
                    <a:pt x="971169" y="753618"/>
                    <a:pt x="753745" y="971169"/>
                    <a:pt x="485521" y="971169"/>
                  </a:cubicBezTo>
                  <a:cubicBezTo>
                    <a:pt x="217297" y="971169"/>
                    <a:pt x="0" y="753745"/>
                    <a:pt x="0" y="485521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251406" y="3363068"/>
            <a:ext cx="291255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249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1005" y="4190409"/>
            <a:ext cx="3035351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T-Test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1005" y="4711151"/>
            <a:ext cx="3352352" cy="92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means between different student groups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552589" y="3602384"/>
            <a:ext cx="3895134" cy="2187026"/>
            <a:chOff x="0" y="0"/>
            <a:chExt cx="5193513" cy="29160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93538" cy="2916047"/>
            </a:xfrm>
            <a:custGeom>
              <a:avLst/>
              <a:gdLst/>
              <a:ahLst/>
              <a:cxnLst/>
              <a:rect r="r" b="b" t="t" l="l"/>
              <a:pathLst>
                <a:path h="2916047" w="519353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10658" y="0"/>
                  </a:lnTo>
                  <a:cubicBezTo>
                    <a:pt x="5111623" y="0"/>
                    <a:pt x="5193538" y="81915"/>
                    <a:pt x="5193538" y="182880"/>
                  </a:cubicBezTo>
                  <a:lnTo>
                    <a:pt x="5193538" y="2733167"/>
                  </a:lnTo>
                  <a:cubicBezTo>
                    <a:pt x="5193538" y="2834132"/>
                    <a:pt x="5111623" y="2916047"/>
                    <a:pt x="5010658" y="2916047"/>
                  </a:cubicBezTo>
                  <a:lnTo>
                    <a:pt x="182880" y="2916047"/>
                  </a:lnTo>
                  <a:cubicBezTo>
                    <a:pt x="81915" y="2916047"/>
                    <a:pt x="0" y="2834132"/>
                    <a:pt x="0" y="2733167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552589" y="3573809"/>
            <a:ext cx="3895134" cy="114300"/>
            <a:chOff x="0" y="0"/>
            <a:chExt cx="5193513" cy="152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93411" cy="152400"/>
            </a:xfrm>
            <a:custGeom>
              <a:avLst/>
              <a:gdLst/>
              <a:ahLst/>
              <a:cxnLst/>
              <a:rect r="r" b="b" t="t" l="l"/>
              <a:pathLst>
                <a:path h="152400" w="5193411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5144897" y="0"/>
                  </a:lnTo>
                  <a:cubicBezTo>
                    <a:pt x="5171694" y="0"/>
                    <a:pt x="5193411" y="21717"/>
                    <a:pt x="5193411" y="48514"/>
                  </a:cubicBezTo>
                  <a:lnTo>
                    <a:pt x="5193411" y="103886"/>
                  </a:lnTo>
                  <a:cubicBezTo>
                    <a:pt x="5193411" y="130683"/>
                    <a:pt x="5171694" y="152400"/>
                    <a:pt x="5144897" y="152400"/>
                  </a:cubicBezTo>
                  <a:lnTo>
                    <a:pt x="48514" y="152400"/>
                  </a:lnTo>
                  <a:cubicBezTo>
                    <a:pt x="21717" y="152400"/>
                    <a:pt x="0" y="130683"/>
                    <a:pt x="0" y="103886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135968" y="3238205"/>
            <a:ext cx="728367" cy="728367"/>
            <a:chOff x="0" y="0"/>
            <a:chExt cx="971156" cy="9711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1169" cy="971169"/>
            </a:xfrm>
            <a:custGeom>
              <a:avLst/>
              <a:gdLst/>
              <a:ahLst/>
              <a:cxnLst/>
              <a:rect r="r" b="b" t="t" l="l"/>
              <a:pathLst>
                <a:path h="971169" w="971169">
                  <a:moveTo>
                    <a:pt x="0" y="485521"/>
                  </a:moveTo>
                  <a:cubicBezTo>
                    <a:pt x="0" y="217424"/>
                    <a:pt x="217424" y="0"/>
                    <a:pt x="485521" y="0"/>
                  </a:cubicBezTo>
                  <a:cubicBezTo>
                    <a:pt x="753618" y="0"/>
                    <a:pt x="971169" y="217424"/>
                    <a:pt x="971169" y="485521"/>
                  </a:cubicBezTo>
                  <a:cubicBezTo>
                    <a:pt x="971169" y="753618"/>
                    <a:pt x="753745" y="971169"/>
                    <a:pt x="485521" y="971169"/>
                  </a:cubicBezTo>
                  <a:cubicBezTo>
                    <a:pt x="217297" y="971169"/>
                    <a:pt x="0" y="753745"/>
                    <a:pt x="0" y="485521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5354452" y="3363068"/>
            <a:ext cx="291255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249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23899" y="4190409"/>
            <a:ext cx="3035351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ANOVA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23899" y="4711151"/>
            <a:ext cx="3352505" cy="85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27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Analyses variance across multiple categories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449695" y="6361509"/>
            <a:ext cx="7998028" cy="1826419"/>
            <a:chOff x="0" y="0"/>
            <a:chExt cx="10664038" cy="24352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64063" cy="2435225"/>
            </a:xfrm>
            <a:custGeom>
              <a:avLst/>
              <a:gdLst/>
              <a:ahLst/>
              <a:cxnLst/>
              <a:rect r="r" b="b" t="t" l="l"/>
              <a:pathLst>
                <a:path h="2435225" w="1066406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481183" y="0"/>
                  </a:lnTo>
                  <a:cubicBezTo>
                    <a:pt x="10582148" y="0"/>
                    <a:pt x="10664063" y="81915"/>
                    <a:pt x="10664063" y="182880"/>
                  </a:cubicBezTo>
                  <a:lnTo>
                    <a:pt x="10664063" y="2252345"/>
                  </a:lnTo>
                  <a:cubicBezTo>
                    <a:pt x="10664063" y="2353310"/>
                    <a:pt x="10582148" y="2435225"/>
                    <a:pt x="10481183" y="2435225"/>
                  </a:cubicBezTo>
                  <a:lnTo>
                    <a:pt x="182880" y="2435225"/>
                  </a:lnTo>
                  <a:cubicBezTo>
                    <a:pt x="81915" y="2435225"/>
                    <a:pt x="0" y="2353310"/>
                    <a:pt x="0" y="2252345"/>
                  </a:cubicBez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49695" y="6332934"/>
            <a:ext cx="7998028" cy="114300"/>
            <a:chOff x="0" y="0"/>
            <a:chExt cx="10664038" cy="152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63936" cy="152400"/>
            </a:xfrm>
            <a:custGeom>
              <a:avLst/>
              <a:gdLst/>
              <a:ahLst/>
              <a:cxnLst/>
              <a:rect r="r" b="b" t="t" l="l"/>
              <a:pathLst>
                <a:path h="152400" w="10663936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10615422" y="0"/>
                  </a:lnTo>
                  <a:cubicBezTo>
                    <a:pt x="10642219" y="0"/>
                    <a:pt x="10663936" y="21717"/>
                    <a:pt x="10663936" y="48514"/>
                  </a:cubicBezTo>
                  <a:lnTo>
                    <a:pt x="10663936" y="103886"/>
                  </a:lnTo>
                  <a:cubicBezTo>
                    <a:pt x="10663936" y="130683"/>
                    <a:pt x="10642219" y="152400"/>
                    <a:pt x="10615422" y="152400"/>
                  </a:cubicBezTo>
                  <a:lnTo>
                    <a:pt x="48514" y="152400"/>
                  </a:lnTo>
                  <a:cubicBezTo>
                    <a:pt x="21717" y="152400"/>
                    <a:pt x="0" y="130683"/>
                    <a:pt x="0" y="103886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084521" y="5997331"/>
            <a:ext cx="728367" cy="728367"/>
            <a:chOff x="0" y="0"/>
            <a:chExt cx="971156" cy="9711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1169" cy="971169"/>
            </a:xfrm>
            <a:custGeom>
              <a:avLst/>
              <a:gdLst/>
              <a:ahLst/>
              <a:cxnLst/>
              <a:rect r="r" b="b" t="t" l="l"/>
              <a:pathLst>
                <a:path h="971169" w="971169">
                  <a:moveTo>
                    <a:pt x="0" y="485521"/>
                  </a:moveTo>
                  <a:cubicBezTo>
                    <a:pt x="0" y="217424"/>
                    <a:pt x="217424" y="0"/>
                    <a:pt x="485521" y="0"/>
                  </a:cubicBezTo>
                  <a:cubicBezTo>
                    <a:pt x="753618" y="0"/>
                    <a:pt x="971169" y="217424"/>
                    <a:pt x="971169" y="485521"/>
                  </a:cubicBezTo>
                  <a:cubicBezTo>
                    <a:pt x="971169" y="753618"/>
                    <a:pt x="753745" y="971169"/>
                    <a:pt x="485521" y="971169"/>
                  </a:cubicBezTo>
                  <a:cubicBezTo>
                    <a:pt x="217297" y="971169"/>
                    <a:pt x="0" y="753745"/>
                    <a:pt x="0" y="485521"/>
                  </a:cubicBezTo>
                  <a:close/>
                </a:path>
              </a:pathLst>
            </a:custGeom>
            <a:solidFill>
              <a:srgbClr val="101014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3303006" y="6122194"/>
            <a:ext cx="291255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249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21005" y="6949526"/>
            <a:ext cx="3035351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Chi-Squared Test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721005" y="7470277"/>
            <a:ext cx="7455398" cy="45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Examines relationships between categorical variables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49811" y="8570119"/>
            <a:ext cx="16588378" cy="92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4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from both evaluation frameworks validate model reliability and confirm feature relevance for predicting exam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93121" y="1305516"/>
            <a:ext cx="6197441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 Interpretation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893121" y="2466384"/>
            <a:ext cx="637880" cy="637880"/>
          </a:xfrm>
          <a:custGeom>
            <a:avLst/>
            <a:gdLst/>
            <a:ahLst/>
            <a:cxnLst/>
            <a:rect r="r" b="b" t="t" l="l"/>
            <a:pathLst>
              <a:path h="637880" w="637880">
                <a:moveTo>
                  <a:pt x="0" y="0"/>
                </a:moveTo>
                <a:lnTo>
                  <a:pt x="637880" y="0"/>
                </a:lnTo>
                <a:lnTo>
                  <a:pt x="637880" y="637880"/>
                </a:lnTo>
                <a:lnTo>
                  <a:pt x="0" y="6378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46" r="0" b="-74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17932" y="2456859"/>
            <a:ext cx="3189684" cy="40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Study 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7932" y="2926404"/>
            <a:ext cx="8718947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Hours dedicated to studying show strong positive correlation with exam scores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893121" y="4237587"/>
            <a:ext cx="637880" cy="637880"/>
          </a:xfrm>
          <a:custGeom>
            <a:avLst/>
            <a:gdLst/>
            <a:ahLst/>
            <a:cxnLst/>
            <a:rect r="r" b="b" t="t" l="l"/>
            <a:pathLst>
              <a:path h="637880" w="637880">
                <a:moveTo>
                  <a:pt x="0" y="0"/>
                </a:moveTo>
                <a:lnTo>
                  <a:pt x="637880" y="0"/>
                </a:lnTo>
                <a:lnTo>
                  <a:pt x="637880" y="637879"/>
                </a:lnTo>
                <a:lnTo>
                  <a:pt x="0" y="637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969" r="0" b="-596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17932" y="4228062"/>
            <a:ext cx="3189684" cy="40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Class Attendance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7932" y="4697616"/>
            <a:ext cx="871894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attendance patterns significantly influence academic outcomes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893121" y="5620941"/>
            <a:ext cx="637880" cy="637880"/>
          </a:xfrm>
          <a:custGeom>
            <a:avLst/>
            <a:gdLst/>
            <a:ahLst/>
            <a:cxnLst/>
            <a:rect r="r" b="b" t="t" l="l"/>
            <a:pathLst>
              <a:path h="637880" w="637880">
                <a:moveTo>
                  <a:pt x="0" y="0"/>
                </a:moveTo>
                <a:lnTo>
                  <a:pt x="637880" y="0"/>
                </a:lnTo>
                <a:lnTo>
                  <a:pt x="637880" y="637879"/>
                </a:lnTo>
                <a:lnTo>
                  <a:pt x="0" y="637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4179" t="0" r="-14178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17932" y="5611416"/>
            <a:ext cx="3189684" cy="40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Digital Access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17932" y="6080970"/>
            <a:ext cx="871894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connectivity and study methods affect learning effectiveness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893121" y="7004294"/>
            <a:ext cx="637880" cy="637880"/>
          </a:xfrm>
          <a:custGeom>
            <a:avLst/>
            <a:gdLst/>
            <a:ahLst/>
            <a:cxnLst/>
            <a:rect r="r" b="b" t="t" l="l"/>
            <a:pathLst>
              <a:path h="637880" w="637880">
                <a:moveTo>
                  <a:pt x="0" y="0"/>
                </a:moveTo>
                <a:lnTo>
                  <a:pt x="637880" y="0"/>
                </a:lnTo>
                <a:lnTo>
                  <a:pt x="637880" y="637880"/>
                </a:lnTo>
                <a:lnTo>
                  <a:pt x="0" y="6378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1939" r="0" b="-1193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17932" y="6994769"/>
            <a:ext cx="3189684" cy="40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Lifestyle Factors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7932" y="7464323"/>
            <a:ext cx="871894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 quality and rest patterns play crucial role in performance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3121" y="8110538"/>
            <a:ext cx="9643767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successfully identifies and quantifies these relationships, enabling predictive insights into student performance trends.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77728" y="1888922"/>
            <a:ext cx="8043415" cy="66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true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Conclusion and Future Directions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77728" y="2774309"/>
            <a:ext cx="9990534" cy="1105491"/>
            <a:chOff x="0" y="0"/>
            <a:chExt cx="13320712" cy="14739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20776" cy="1473962"/>
            </a:xfrm>
            <a:custGeom>
              <a:avLst/>
              <a:gdLst/>
              <a:ahLst/>
              <a:cxnLst/>
              <a:rect r="r" b="b" t="t" l="l"/>
              <a:pathLst>
                <a:path h="1473962" w="1332077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628" y="0"/>
                  </a:lnTo>
                  <a:cubicBezTo>
                    <a:pt x="13302362" y="0"/>
                    <a:pt x="13320776" y="18415"/>
                    <a:pt x="13320776" y="41148"/>
                  </a:cubicBezTo>
                  <a:lnTo>
                    <a:pt x="13320776" y="1432814"/>
                  </a:lnTo>
                  <a:cubicBezTo>
                    <a:pt x="13320776" y="1455547"/>
                    <a:pt x="13302362" y="1473962"/>
                    <a:pt x="13279628" y="1473962"/>
                  </a:cubicBezTo>
                  <a:lnTo>
                    <a:pt x="41148" y="1473962"/>
                  </a:lnTo>
                  <a:cubicBezTo>
                    <a:pt x="18415" y="1473962"/>
                    <a:pt x="0" y="1455547"/>
                    <a:pt x="0" y="1432814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783268" y="2970314"/>
            <a:ext cx="2570559" cy="33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✓ Model Success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83268" y="3342827"/>
            <a:ext cx="957947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effectively predicts student exam performance with reliable accuracy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77728" y="4028923"/>
            <a:ext cx="9990534" cy="1105491"/>
            <a:chOff x="0" y="0"/>
            <a:chExt cx="13320712" cy="14739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20776" cy="1473962"/>
            </a:xfrm>
            <a:custGeom>
              <a:avLst/>
              <a:gdLst/>
              <a:ahLst/>
              <a:cxnLst/>
              <a:rect r="r" b="b" t="t" l="l"/>
              <a:pathLst>
                <a:path h="1473962" w="1332077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628" y="0"/>
                  </a:lnTo>
                  <a:cubicBezTo>
                    <a:pt x="13302362" y="0"/>
                    <a:pt x="13320776" y="18415"/>
                    <a:pt x="13320776" y="41148"/>
                  </a:cubicBezTo>
                  <a:lnTo>
                    <a:pt x="13320776" y="1432814"/>
                  </a:lnTo>
                  <a:cubicBezTo>
                    <a:pt x="13320776" y="1455547"/>
                    <a:pt x="13302362" y="1473962"/>
                    <a:pt x="13279628" y="1473962"/>
                  </a:cubicBezTo>
                  <a:lnTo>
                    <a:pt x="41148" y="1473962"/>
                  </a:lnTo>
                  <a:cubicBezTo>
                    <a:pt x="18415" y="1473962"/>
                    <a:pt x="0" y="1455547"/>
                    <a:pt x="0" y="1432814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83268" y="4224928"/>
            <a:ext cx="2570559" cy="33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✓ Early Intervention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83268" y="4597451"/>
            <a:ext cx="957947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insights help identify students at academic risk for timely support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77728" y="5283546"/>
            <a:ext cx="9990534" cy="1105491"/>
            <a:chOff x="0" y="0"/>
            <a:chExt cx="13320712" cy="14739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20776" cy="1473962"/>
            </a:xfrm>
            <a:custGeom>
              <a:avLst/>
              <a:gdLst/>
              <a:ahLst/>
              <a:cxnLst/>
              <a:rect r="r" b="b" t="t" l="l"/>
              <a:pathLst>
                <a:path h="1473962" w="1332077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628" y="0"/>
                  </a:lnTo>
                  <a:cubicBezTo>
                    <a:pt x="13302362" y="0"/>
                    <a:pt x="13320776" y="18415"/>
                    <a:pt x="13320776" y="41148"/>
                  </a:cubicBezTo>
                  <a:lnTo>
                    <a:pt x="13320776" y="1432814"/>
                  </a:lnTo>
                  <a:cubicBezTo>
                    <a:pt x="13320776" y="1455547"/>
                    <a:pt x="13302362" y="1473962"/>
                    <a:pt x="13279628" y="1473962"/>
                  </a:cubicBezTo>
                  <a:lnTo>
                    <a:pt x="41148" y="1473962"/>
                  </a:lnTo>
                  <a:cubicBezTo>
                    <a:pt x="18415" y="1473962"/>
                    <a:pt x="0" y="1455547"/>
                    <a:pt x="0" y="1432814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783268" y="5479552"/>
            <a:ext cx="2570559" cy="33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✓ User Interface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83268" y="5852074"/>
            <a:ext cx="957947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app provides interactive and user-friendly analysis platform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577728" y="6538170"/>
            <a:ext cx="9990534" cy="1105491"/>
            <a:chOff x="0" y="0"/>
            <a:chExt cx="13320712" cy="14739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320776" cy="1473962"/>
            </a:xfrm>
            <a:custGeom>
              <a:avLst/>
              <a:gdLst/>
              <a:ahLst/>
              <a:cxnLst/>
              <a:rect r="r" b="b" t="t" l="l"/>
              <a:pathLst>
                <a:path h="1473962" w="1332077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628" y="0"/>
                  </a:lnTo>
                  <a:cubicBezTo>
                    <a:pt x="13302362" y="0"/>
                    <a:pt x="13320776" y="18415"/>
                    <a:pt x="13320776" y="41148"/>
                  </a:cubicBezTo>
                  <a:lnTo>
                    <a:pt x="13320776" y="1432814"/>
                  </a:lnTo>
                  <a:cubicBezTo>
                    <a:pt x="13320776" y="1455547"/>
                    <a:pt x="13302362" y="1473962"/>
                    <a:pt x="13279628" y="1473962"/>
                  </a:cubicBezTo>
                  <a:lnTo>
                    <a:pt x="41148" y="1473962"/>
                  </a:lnTo>
                  <a:cubicBezTo>
                    <a:pt x="18415" y="1473962"/>
                    <a:pt x="0" y="1455547"/>
                    <a:pt x="0" y="1432814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783268" y="6734175"/>
            <a:ext cx="2817762" cy="33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→ Future Improvements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83268" y="7106688"/>
            <a:ext cx="957947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models (neural networks, ensemble methods) and expanded feature sets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77728" y="7763770"/>
            <a:ext cx="9990534" cy="71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3939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demonstrates the practical application of data science in education, offering actionable insights for educators and students alike.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DAHCVvc67ns</dc:identifier>
  <dcterms:modified xsi:type="dcterms:W3CDTF">2011-08-01T06:04:30Z</dcterms:modified>
  <cp:revision>1</cp:revision>
  <dc:title>A data-driven approach to understanding academic success through machine learning and statistical analysis</dc:title>
</cp:coreProperties>
</file>