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Times New Roman" charset="1" panose="02020603050405020304"/>
      <p:regular r:id="rId13"/>
    </p:embeddedFont>
    <p:embeddedFont>
      <p:font typeface="Times New Roman Bold" charset="1" panose="02020803070505020304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688068" y="1028700"/>
            <a:ext cx="7571232" cy="8229600"/>
          </a:xfrm>
          <a:custGeom>
            <a:avLst/>
            <a:gdLst/>
            <a:ahLst/>
            <a:cxnLst/>
            <a:rect r="r" b="b" t="t" l="l"/>
            <a:pathLst>
              <a:path h="8229600" w="7571232">
                <a:moveTo>
                  <a:pt x="0" y="0"/>
                </a:moveTo>
                <a:lnTo>
                  <a:pt x="7571232" y="0"/>
                </a:lnTo>
                <a:lnTo>
                  <a:pt x="757123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99007" y="4237480"/>
            <a:ext cx="8744993" cy="2040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50"/>
              </a:lnSpc>
            </a:pPr>
            <a:r>
              <a:rPr lang="en-US" sz="8678" spc="-4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 Score Prediction Dataset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42854" y="9580143"/>
            <a:ext cx="16402291" cy="372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91"/>
              </a:lnSpc>
            </a:pPr>
            <a:r>
              <a:rPr lang="en-US" sz="2978" spc="-14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Srijan Kattel | Prashant Puri | Abhinav Man Shrestha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ED87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04776" y="493677"/>
            <a:ext cx="17278447" cy="9299645"/>
            <a:chOff x="0" y="0"/>
            <a:chExt cx="210052641" cy="1130550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72390" y="72390"/>
              <a:ext cx="209907872" cy="112910233"/>
            </a:xfrm>
            <a:custGeom>
              <a:avLst/>
              <a:gdLst/>
              <a:ahLst/>
              <a:cxnLst/>
              <a:rect r="r" b="b" t="t" l="l"/>
              <a:pathLst>
                <a:path h="112910233" w="209907872">
                  <a:moveTo>
                    <a:pt x="0" y="0"/>
                  </a:moveTo>
                  <a:lnTo>
                    <a:pt x="209907872" y="0"/>
                  </a:lnTo>
                  <a:lnTo>
                    <a:pt x="209907872" y="112910233"/>
                  </a:lnTo>
                  <a:lnTo>
                    <a:pt x="0" y="1129102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0052642" cy="113055016"/>
            </a:xfrm>
            <a:custGeom>
              <a:avLst/>
              <a:gdLst/>
              <a:ahLst/>
              <a:cxnLst/>
              <a:rect r="r" b="b" t="t" l="l"/>
              <a:pathLst>
                <a:path h="113055016" w="210052642">
                  <a:moveTo>
                    <a:pt x="209907857" y="112910231"/>
                  </a:moveTo>
                  <a:lnTo>
                    <a:pt x="210052642" y="112910231"/>
                  </a:lnTo>
                  <a:lnTo>
                    <a:pt x="210052642" y="113055016"/>
                  </a:lnTo>
                  <a:lnTo>
                    <a:pt x="209907857" y="113055016"/>
                  </a:lnTo>
                  <a:lnTo>
                    <a:pt x="209907857" y="11291023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112910231"/>
                  </a:lnTo>
                  <a:lnTo>
                    <a:pt x="0" y="112910231"/>
                  </a:lnTo>
                  <a:lnTo>
                    <a:pt x="0" y="144780"/>
                  </a:lnTo>
                  <a:close/>
                  <a:moveTo>
                    <a:pt x="0" y="112910231"/>
                  </a:moveTo>
                  <a:lnTo>
                    <a:pt x="144780" y="112910231"/>
                  </a:lnTo>
                  <a:lnTo>
                    <a:pt x="144780" y="113055016"/>
                  </a:lnTo>
                  <a:lnTo>
                    <a:pt x="0" y="113055016"/>
                  </a:lnTo>
                  <a:lnTo>
                    <a:pt x="0" y="112910231"/>
                  </a:lnTo>
                  <a:close/>
                  <a:moveTo>
                    <a:pt x="209907857" y="144780"/>
                  </a:moveTo>
                  <a:lnTo>
                    <a:pt x="210052642" y="144780"/>
                  </a:lnTo>
                  <a:lnTo>
                    <a:pt x="210052642" y="112910231"/>
                  </a:lnTo>
                  <a:lnTo>
                    <a:pt x="209907857" y="112910231"/>
                  </a:lnTo>
                  <a:lnTo>
                    <a:pt x="209907857" y="144780"/>
                  </a:lnTo>
                  <a:close/>
                  <a:moveTo>
                    <a:pt x="144780" y="112910231"/>
                  </a:moveTo>
                  <a:lnTo>
                    <a:pt x="209907857" y="112910231"/>
                  </a:lnTo>
                  <a:lnTo>
                    <a:pt x="209907857" y="113055016"/>
                  </a:lnTo>
                  <a:lnTo>
                    <a:pt x="144780" y="113055016"/>
                  </a:lnTo>
                  <a:lnTo>
                    <a:pt x="144780" y="112910231"/>
                  </a:lnTo>
                  <a:close/>
                  <a:moveTo>
                    <a:pt x="209907857" y="0"/>
                  </a:moveTo>
                  <a:lnTo>
                    <a:pt x="210052642" y="0"/>
                  </a:lnTo>
                  <a:lnTo>
                    <a:pt x="210052642" y="144780"/>
                  </a:lnTo>
                  <a:lnTo>
                    <a:pt x="209907857" y="144780"/>
                  </a:lnTo>
                  <a:lnTo>
                    <a:pt x="209907857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209907857" y="0"/>
                  </a:lnTo>
                  <a:lnTo>
                    <a:pt x="209907857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028700" y="712346"/>
            <a:ext cx="8135085" cy="2505033"/>
            <a:chOff x="0" y="0"/>
            <a:chExt cx="1640408" cy="50513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40408" cy="505130"/>
            </a:xfrm>
            <a:custGeom>
              <a:avLst/>
              <a:gdLst/>
              <a:ahLst/>
              <a:cxnLst/>
              <a:rect r="r" b="b" t="t" l="l"/>
              <a:pathLst>
                <a:path h="505130" w="1640408">
                  <a:moveTo>
                    <a:pt x="492122" y="0"/>
                  </a:moveTo>
                  <a:cubicBezTo>
                    <a:pt x="1124851" y="0"/>
                    <a:pt x="1640408" y="158755"/>
                    <a:pt x="1640408" y="353591"/>
                  </a:cubicBezTo>
                  <a:lnTo>
                    <a:pt x="1640408" y="505130"/>
                  </a:lnTo>
                  <a:lnTo>
                    <a:pt x="1148286" y="505130"/>
                  </a:lnTo>
                  <a:cubicBezTo>
                    <a:pt x="515557" y="505130"/>
                    <a:pt x="0" y="346375"/>
                    <a:pt x="0" y="151539"/>
                  </a:cubicBezTo>
                  <a:lnTo>
                    <a:pt x="0" y="0"/>
                  </a:lnTo>
                  <a:lnTo>
                    <a:pt x="492122" y="0"/>
                  </a:lnTo>
                  <a:close/>
                </a:path>
              </a:pathLst>
            </a:custGeom>
            <a:solidFill>
              <a:srgbClr val="FFECA7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17172" y="62304"/>
              <a:ext cx="1406064" cy="4376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27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265431" y="1525951"/>
            <a:ext cx="8115300" cy="1115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43"/>
              </a:lnSpc>
            </a:pPr>
            <a:r>
              <a:rPr lang="en-US" sz="8900" spc="-43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88431" y="5067300"/>
            <a:ext cx="9165034" cy="1545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sz="2899" spc="-14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 </a:t>
            </a:r>
            <a:r>
              <a:rPr lang="en-US" sz="2899" spc="-14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Students often struggle to achieve their potential due to varying study habits and lifestyle factors, creating a need for predictive insights into exam performance. “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ED87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04776" y="493677"/>
            <a:ext cx="17278447" cy="9299645"/>
            <a:chOff x="0" y="0"/>
            <a:chExt cx="210052641" cy="1130550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72390" y="72390"/>
              <a:ext cx="209907872" cy="112910233"/>
            </a:xfrm>
            <a:custGeom>
              <a:avLst/>
              <a:gdLst/>
              <a:ahLst/>
              <a:cxnLst/>
              <a:rect r="r" b="b" t="t" l="l"/>
              <a:pathLst>
                <a:path h="112910233" w="209907872">
                  <a:moveTo>
                    <a:pt x="0" y="0"/>
                  </a:moveTo>
                  <a:lnTo>
                    <a:pt x="209907872" y="0"/>
                  </a:lnTo>
                  <a:lnTo>
                    <a:pt x="209907872" y="112910233"/>
                  </a:lnTo>
                  <a:lnTo>
                    <a:pt x="0" y="1129102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0052642" cy="113055016"/>
            </a:xfrm>
            <a:custGeom>
              <a:avLst/>
              <a:gdLst/>
              <a:ahLst/>
              <a:cxnLst/>
              <a:rect r="r" b="b" t="t" l="l"/>
              <a:pathLst>
                <a:path h="113055016" w="210052642">
                  <a:moveTo>
                    <a:pt x="209907857" y="112910231"/>
                  </a:moveTo>
                  <a:lnTo>
                    <a:pt x="210052642" y="112910231"/>
                  </a:lnTo>
                  <a:lnTo>
                    <a:pt x="210052642" y="113055016"/>
                  </a:lnTo>
                  <a:lnTo>
                    <a:pt x="209907857" y="113055016"/>
                  </a:lnTo>
                  <a:lnTo>
                    <a:pt x="209907857" y="11291023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112910231"/>
                  </a:lnTo>
                  <a:lnTo>
                    <a:pt x="0" y="112910231"/>
                  </a:lnTo>
                  <a:lnTo>
                    <a:pt x="0" y="144780"/>
                  </a:lnTo>
                  <a:close/>
                  <a:moveTo>
                    <a:pt x="0" y="112910231"/>
                  </a:moveTo>
                  <a:lnTo>
                    <a:pt x="144780" y="112910231"/>
                  </a:lnTo>
                  <a:lnTo>
                    <a:pt x="144780" y="113055016"/>
                  </a:lnTo>
                  <a:lnTo>
                    <a:pt x="0" y="113055016"/>
                  </a:lnTo>
                  <a:lnTo>
                    <a:pt x="0" y="112910231"/>
                  </a:lnTo>
                  <a:close/>
                  <a:moveTo>
                    <a:pt x="209907857" y="144780"/>
                  </a:moveTo>
                  <a:lnTo>
                    <a:pt x="210052642" y="144780"/>
                  </a:lnTo>
                  <a:lnTo>
                    <a:pt x="210052642" y="112910231"/>
                  </a:lnTo>
                  <a:lnTo>
                    <a:pt x="209907857" y="112910231"/>
                  </a:lnTo>
                  <a:lnTo>
                    <a:pt x="209907857" y="144780"/>
                  </a:lnTo>
                  <a:close/>
                  <a:moveTo>
                    <a:pt x="144780" y="112910231"/>
                  </a:moveTo>
                  <a:lnTo>
                    <a:pt x="209907857" y="112910231"/>
                  </a:lnTo>
                  <a:lnTo>
                    <a:pt x="209907857" y="113055016"/>
                  </a:lnTo>
                  <a:lnTo>
                    <a:pt x="144780" y="113055016"/>
                  </a:lnTo>
                  <a:lnTo>
                    <a:pt x="144780" y="112910231"/>
                  </a:lnTo>
                  <a:close/>
                  <a:moveTo>
                    <a:pt x="209907857" y="0"/>
                  </a:moveTo>
                  <a:lnTo>
                    <a:pt x="210052642" y="0"/>
                  </a:lnTo>
                  <a:lnTo>
                    <a:pt x="210052642" y="144780"/>
                  </a:lnTo>
                  <a:lnTo>
                    <a:pt x="209907857" y="144780"/>
                  </a:lnTo>
                  <a:lnTo>
                    <a:pt x="209907857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209907857" y="0"/>
                  </a:lnTo>
                  <a:lnTo>
                    <a:pt x="209907857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1455056" y="3284923"/>
            <a:ext cx="9613820" cy="51481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82367" indent="-391184" lvl="1">
              <a:lnSpc>
                <a:spcPts val="5073"/>
              </a:lnSpc>
              <a:buFont typeface="Arial"/>
              <a:buChar char="•"/>
            </a:pPr>
            <a:r>
              <a:rPr lang="en-US" sz="362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Unique student ID</a:t>
            </a:r>
          </a:p>
          <a:p>
            <a:pPr algn="l" marL="782367" indent="-391184" lvl="1">
              <a:lnSpc>
                <a:spcPts val="5073"/>
              </a:lnSpc>
              <a:buFont typeface="Arial"/>
              <a:buChar char="•"/>
            </a:pPr>
            <a:r>
              <a:rPr lang="en-US" sz="362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Demographic details (age, gender, course)</a:t>
            </a:r>
          </a:p>
          <a:p>
            <a:pPr algn="l" marL="782367" indent="-391184" lvl="1">
              <a:lnSpc>
                <a:spcPts val="5073"/>
              </a:lnSpc>
              <a:buFont typeface="Arial"/>
              <a:buChar char="•"/>
            </a:pPr>
            <a:r>
              <a:rPr lang="en-US" sz="362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Study habits (daily study hours, attendance)</a:t>
            </a:r>
          </a:p>
          <a:p>
            <a:pPr algn="l" marL="782367" indent="-391184" lvl="1">
              <a:lnSpc>
                <a:spcPts val="5073"/>
              </a:lnSpc>
              <a:buFont typeface="Arial"/>
              <a:buChar char="•"/>
            </a:pPr>
            <a:r>
              <a:rPr lang="en-US" sz="362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Lifestyle factors (sleep duration, sleep quality)</a:t>
            </a:r>
          </a:p>
          <a:p>
            <a:pPr algn="l" marL="782367" indent="-391184" lvl="1">
              <a:lnSpc>
                <a:spcPts val="5073"/>
              </a:lnSpc>
              <a:buFont typeface="Arial"/>
              <a:buChar char="•"/>
            </a:pPr>
            <a:r>
              <a:rPr lang="en-US" sz="362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Resource access (internet availability)</a:t>
            </a:r>
          </a:p>
          <a:p>
            <a:pPr algn="l" marL="782367" indent="-391184" lvl="1">
              <a:lnSpc>
                <a:spcPts val="5073"/>
              </a:lnSpc>
              <a:buFont typeface="Arial"/>
              <a:buChar char="•"/>
            </a:pPr>
            <a:r>
              <a:rPr lang="en-US" sz="362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Academic environment (facility rating)</a:t>
            </a:r>
          </a:p>
          <a:p>
            <a:pPr algn="l" marL="782367" indent="-391184" lvl="1">
              <a:lnSpc>
                <a:spcPts val="5073"/>
              </a:lnSpc>
              <a:buFont typeface="Arial"/>
              <a:buChar char="•"/>
            </a:pPr>
            <a:r>
              <a:rPr lang="en-US" sz="362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 difficulty level</a:t>
            </a:r>
          </a:p>
          <a:p>
            <a:pPr algn="l" marL="782367" indent="-391184" lvl="1">
              <a:lnSpc>
                <a:spcPts val="5073"/>
              </a:lnSpc>
              <a:buFont typeface="Arial"/>
              <a:buChar char="•"/>
            </a:pPr>
            <a:r>
              <a:rPr lang="en-US" sz="362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Final exam score (0–100)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455056" y="914805"/>
            <a:ext cx="7045962" cy="1549568"/>
            <a:chOff x="0" y="0"/>
            <a:chExt cx="1391795" cy="30608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91795" cy="306088"/>
            </a:xfrm>
            <a:custGeom>
              <a:avLst/>
              <a:gdLst/>
              <a:ahLst/>
              <a:cxnLst/>
              <a:rect r="r" b="b" t="t" l="l"/>
              <a:pathLst>
                <a:path h="306088" w="1391795">
                  <a:moveTo>
                    <a:pt x="20602" y="0"/>
                  </a:moveTo>
                  <a:lnTo>
                    <a:pt x="1161621" y="0"/>
                  </a:lnTo>
                  <a:cubicBezTo>
                    <a:pt x="1296864" y="0"/>
                    <a:pt x="1391795" y="68520"/>
                    <a:pt x="1391795" y="153044"/>
                  </a:cubicBezTo>
                  <a:cubicBezTo>
                    <a:pt x="1391795" y="237568"/>
                    <a:pt x="1296864" y="306088"/>
                    <a:pt x="1161621" y="306088"/>
                  </a:cubicBezTo>
                  <a:lnTo>
                    <a:pt x="20602" y="306088"/>
                  </a:lnTo>
                  <a:cubicBezTo>
                    <a:pt x="15138" y="306088"/>
                    <a:pt x="9898" y="303917"/>
                    <a:pt x="6034" y="300053"/>
                  </a:cubicBezTo>
                  <a:cubicBezTo>
                    <a:pt x="2171" y="296190"/>
                    <a:pt x="0" y="290950"/>
                    <a:pt x="0" y="285486"/>
                  </a:cubicBezTo>
                  <a:lnTo>
                    <a:pt x="0" y="20602"/>
                  </a:lnTo>
                  <a:cubicBezTo>
                    <a:pt x="0" y="15138"/>
                    <a:pt x="2171" y="9898"/>
                    <a:pt x="6034" y="6034"/>
                  </a:cubicBezTo>
                  <a:cubicBezTo>
                    <a:pt x="9898" y="2171"/>
                    <a:pt x="15138" y="0"/>
                    <a:pt x="20602" y="0"/>
                  </a:cubicBezTo>
                  <a:close/>
                </a:path>
              </a:pathLst>
            </a:custGeom>
            <a:solidFill>
              <a:srgbClr val="FFECA7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25400" y="57150"/>
              <a:ext cx="1163195" cy="2489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27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110092" y="1097858"/>
            <a:ext cx="7190439" cy="1031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64"/>
              </a:lnSpc>
              <a:spcBef>
                <a:spcPct val="0"/>
              </a:spcBef>
            </a:pPr>
            <a:r>
              <a:rPr lang="en-US" b="true" sz="5831" spc="-285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Dataset from Kaggle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D87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04776" y="493677"/>
            <a:ext cx="17278447" cy="9299645"/>
            <a:chOff x="0" y="0"/>
            <a:chExt cx="210052641" cy="1130550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72390" y="72390"/>
              <a:ext cx="209907872" cy="112910233"/>
            </a:xfrm>
            <a:custGeom>
              <a:avLst/>
              <a:gdLst/>
              <a:ahLst/>
              <a:cxnLst/>
              <a:rect r="r" b="b" t="t" l="l"/>
              <a:pathLst>
                <a:path h="112910233" w="209907872">
                  <a:moveTo>
                    <a:pt x="0" y="0"/>
                  </a:moveTo>
                  <a:lnTo>
                    <a:pt x="209907872" y="0"/>
                  </a:lnTo>
                  <a:lnTo>
                    <a:pt x="209907872" y="112910233"/>
                  </a:lnTo>
                  <a:lnTo>
                    <a:pt x="0" y="1129102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0052642" cy="113055016"/>
            </a:xfrm>
            <a:custGeom>
              <a:avLst/>
              <a:gdLst/>
              <a:ahLst/>
              <a:cxnLst/>
              <a:rect r="r" b="b" t="t" l="l"/>
              <a:pathLst>
                <a:path h="113055016" w="210052642">
                  <a:moveTo>
                    <a:pt x="209907857" y="112910231"/>
                  </a:moveTo>
                  <a:lnTo>
                    <a:pt x="210052642" y="112910231"/>
                  </a:lnTo>
                  <a:lnTo>
                    <a:pt x="210052642" y="113055016"/>
                  </a:lnTo>
                  <a:lnTo>
                    <a:pt x="209907857" y="113055016"/>
                  </a:lnTo>
                  <a:lnTo>
                    <a:pt x="209907857" y="11291023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112910231"/>
                  </a:lnTo>
                  <a:lnTo>
                    <a:pt x="0" y="112910231"/>
                  </a:lnTo>
                  <a:lnTo>
                    <a:pt x="0" y="144780"/>
                  </a:lnTo>
                  <a:close/>
                  <a:moveTo>
                    <a:pt x="0" y="112910231"/>
                  </a:moveTo>
                  <a:lnTo>
                    <a:pt x="144780" y="112910231"/>
                  </a:lnTo>
                  <a:lnTo>
                    <a:pt x="144780" y="113055016"/>
                  </a:lnTo>
                  <a:lnTo>
                    <a:pt x="0" y="113055016"/>
                  </a:lnTo>
                  <a:lnTo>
                    <a:pt x="0" y="112910231"/>
                  </a:lnTo>
                  <a:close/>
                  <a:moveTo>
                    <a:pt x="209907857" y="144780"/>
                  </a:moveTo>
                  <a:lnTo>
                    <a:pt x="210052642" y="144780"/>
                  </a:lnTo>
                  <a:lnTo>
                    <a:pt x="210052642" y="112910231"/>
                  </a:lnTo>
                  <a:lnTo>
                    <a:pt x="209907857" y="112910231"/>
                  </a:lnTo>
                  <a:lnTo>
                    <a:pt x="209907857" y="144780"/>
                  </a:lnTo>
                  <a:close/>
                  <a:moveTo>
                    <a:pt x="144780" y="112910231"/>
                  </a:moveTo>
                  <a:lnTo>
                    <a:pt x="209907857" y="112910231"/>
                  </a:lnTo>
                  <a:lnTo>
                    <a:pt x="209907857" y="113055016"/>
                  </a:lnTo>
                  <a:lnTo>
                    <a:pt x="144780" y="113055016"/>
                  </a:lnTo>
                  <a:lnTo>
                    <a:pt x="144780" y="112910231"/>
                  </a:lnTo>
                  <a:close/>
                  <a:moveTo>
                    <a:pt x="209907857" y="0"/>
                  </a:moveTo>
                  <a:lnTo>
                    <a:pt x="210052642" y="0"/>
                  </a:lnTo>
                  <a:lnTo>
                    <a:pt x="210052642" y="144780"/>
                  </a:lnTo>
                  <a:lnTo>
                    <a:pt x="209907857" y="144780"/>
                  </a:lnTo>
                  <a:lnTo>
                    <a:pt x="209907857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209907857" y="0"/>
                  </a:lnTo>
                  <a:lnTo>
                    <a:pt x="209907857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028700" y="1028700"/>
            <a:ext cx="7175088" cy="1967009"/>
            <a:chOff x="0" y="0"/>
            <a:chExt cx="1299193" cy="35616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99193" cy="356166"/>
            </a:xfrm>
            <a:custGeom>
              <a:avLst/>
              <a:gdLst/>
              <a:ahLst/>
              <a:cxnLst/>
              <a:rect r="r" b="b" t="t" l="l"/>
              <a:pathLst>
                <a:path h="356166" w="1299193">
                  <a:moveTo>
                    <a:pt x="76823" y="149332"/>
                  </a:moveTo>
                  <a:cubicBezTo>
                    <a:pt x="114619" y="161792"/>
                    <a:pt x="114696" y="194850"/>
                    <a:pt x="77112" y="207358"/>
                  </a:cubicBezTo>
                  <a:cubicBezTo>
                    <a:pt x="29859" y="223084"/>
                    <a:pt x="1556" y="243202"/>
                    <a:pt x="1556" y="265075"/>
                  </a:cubicBezTo>
                  <a:cubicBezTo>
                    <a:pt x="1556" y="315587"/>
                    <a:pt x="150810" y="356166"/>
                    <a:pt x="333054" y="356166"/>
                  </a:cubicBezTo>
                  <a:cubicBezTo>
                    <a:pt x="413253" y="356166"/>
                    <a:pt x="486657" y="348434"/>
                    <a:pt x="543987" y="335517"/>
                  </a:cubicBezTo>
                  <a:cubicBezTo>
                    <a:pt x="589721" y="325214"/>
                    <a:pt x="711039" y="325212"/>
                    <a:pt x="756774" y="335516"/>
                  </a:cubicBezTo>
                  <a:cubicBezTo>
                    <a:pt x="814104" y="348433"/>
                    <a:pt x="887511" y="356166"/>
                    <a:pt x="967727" y="356166"/>
                  </a:cubicBezTo>
                  <a:cubicBezTo>
                    <a:pt x="1149972" y="356166"/>
                    <a:pt x="1299193" y="315587"/>
                    <a:pt x="1299193" y="265075"/>
                  </a:cubicBezTo>
                  <a:cubicBezTo>
                    <a:pt x="1299193" y="243040"/>
                    <a:pt x="1270008" y="222785"/>
                    <a:pt x="1221959" y="207009"/>
                  </a:cubicBezTo>
                  <a:cubicBezTo>
                    <a:pt x="1184206" y="194613"/>
                    <a:pt x="1184206" y="161977"/>
                    <a:pt x="1221903" y="149569"/>
                  </a:cubicBezTo>
                  <a:cubicBezTo>
                    <a:pt x="1269988" y="133741"/>
                    <a:pt x="1299193" y="113372"/>
                    <a:pt x="1299193" y="91091"/>
                  </a:cubicBezTo>
                  <a:cubicBezTo>
                    <a:pt x="1299193" y="41015"/>
                    <a:pt x="1149972" y="0"/>
                    <a:pt x="967727" y="0"/>
                  </a:cubicBezTo>
                  <a:cubicBezTo>
                    <a:pt x="888202" y="0"/>
                    <a:pt x="815654" y="7563"/>
                    <a:pt x="758625" y="20220"/>
                  </a:cubicBezTo>
                  <a:cubicBezTo>
                    <a:pt x="712200" y="30524"/>
                    <a:pt x="586249" y="30408"/>
                    <a:pt x="539824" y="20105"/>
                  </a:cubicBezTo>
                  <a:cubicBezTo>
                    <a:pt x="483099" y="7517"/>
                    <a:pt x="410752" y="0"/>
                    <a:pt x="331465" y="0"/>
                  </a:cubicBezTo>
                  <a:cubicBezTo>
                    <a:pt x="149220" y="0"/>
                    <a:pt x="0" y="41015"/>
                    <a:pt x="0" y="91091"/>
                  </a:cubicBezTo>
                  <a:cubicBezTo>
                    <a:pt x="0" y="113260"/>
                    <a:pt x="28915" y="133538"/>
                    <a:pt x="76823" y="149332"/>
                  </a:cubicBezTo>
                  <a:close/>
                </a:path>
              </a:pathLst>
            </a:custGeom>
            <a:solidFill>
              <a:srgbClr val="FFECA7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03345" y="85481"/>
              <a:ext cx="1092503" cy="2423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27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3493371" y="3427121"/>
            <a:ext cx="11301259" cy="3432757"/>
          </a:xfrm>
          <a:custGeom>
            <a:avLst/>
            <a:gdLst/>
            <a:ahLst/>
            <a:cxnLst/>
            <a:rect r="r" b="b" t="t" l="l"/>
            <a:pathLst>
              <a:path h="3432757" w="11301259">
                <a:moveTo>
                  <a:pt x="0" y="0"/>
                </a:moveTo>
                <a:lnTo>
                  <a:pt x="11301258" y="0"/>
                </a:lnTo>
                <a:lnTo>
                  <a:pt x="11301258" y="3432758"/>
                </a:lnTo>
                <a:lnTo>
                  <a:pt x="0" y="34327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979705" y="1573292"/>
            <a:ext cx="3273077" cy="1115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43"/>
              </a:lnSpc>
            </a:pPr>
            <a:r>
              <a:rPr lang="en-US" sz="8900" spc="-43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Dataset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025416" y="7212304"/>
            <a:ext cx="8237167" cy="1490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 spc="-1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dataset has about </a:t>
            </a:r>
            <a:r>
              <a:rPr lang="en-US" sz="2799" spc="-1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20,000 records, each describing a student’s academic behavior, study habits, lifestyle routines, and exam conditions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43146" y="897088"/>
            <a:ext cx="17601707" cy="8492824"/>
          </a:xfrm>
          <a:custGeom>
            <a:avLst/>
            <a:gdLst/>
            <a:ahLst/>
            <a:cxnLst/>
            <a:rect r="r" b="b" t="t" l="l"/>
            <a:pathLst>
              <a:path h="8492824" w="17601707">
                <a:moveTo>
                  <a:pt x="0" y="0"/>
                </a:moveTo>
                <a:lnTo>
                  <a:pt x="17601708" y="0"/>
                </a:lnTo>
                <a:lnTo>
                  <a:pt x="17601708" y="8492824"/>
                </a:lnTo>
                <a:lnTo>
                  <a:pt x="0" y="84928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ED87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04776" y="493677"/>
            <a:ext cx="17278447" cy="9299645"/>
            <a:chOff x="0" y="0"/>
            <a:chExt cx="210052641" cy="1130550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72390" y="72390"/>
              <a:ext cx="209907872" cy="112910233"/>
            </a:xfrm>
            <a:custGeom>
              <a:avLst/>
              <a:gdLst/>
              <a:ahLst/>
              <a:cxnLst/>
              <a:rect r="r" b="b" t="t" l="l"/>
              <a:pathLst>
                <a:path h="112910233" w="209907872">
                  <a:moveTo>
                    <a:pt x="0" y="0"/>
                  </a:moveTo>
                  <a:lnTo>
                    <a:pt x="209907872" y="0"/>
                  </a:lnTo>
                  <a:lnTo>
                    <a:pt x="209907872" y="112910233"/>
                  </a:lnTo>
                  <a:lnTo>
                    <a:pt x="0" y="1129102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0052642" cy="113055016"/>
            </a:xfrm>
            <a:custGeom>
              <a:avLst/>
              <a:gdLst/>
              <a:ahLst/>
              <a:cxnLst/>
              <a:rect r="r" b="b" t="t" l="l"/>
              <a:pathLst>
                <a:path h="113055016" w="210052642">
                  <a:moveTo>
                    <a:pt x="209907857" y="112910231"/>
                  </a:moveTo>
                  <a:lnTo>
                    <a:pt x="210052642" y="112910231"/>
                  </a:lnTo>
                  <a:lnTo>
                    <a:pt x="210052642" y="113055016"/>
                  </a:lnTo>
                  <a:lnTo>
                    <a:pt x="209907857" y="113055016"/>
                  </a:lnTo>
                  <a:lnTo>
                    <a:pt x="209907857" y="11291023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112910231"/>
                  </a:lnTo>
                  <a:lnTo>
                    <a:pt x="0" y="112910231"/>
                  </a:lnTo>
                  <a:lnTo>
                    <a:pt x="0" y="144780"/>
                  </a:lnTo>
                  <a:close/>
                  <a:moveTo>
                    <a:pt x="0" y="112910231"/>
                  </a:moveTo>
                  <a:lnTo>
                    <a:pt x="144780" y="112910231"/>
                  </a:lnTo>
                  <a:lnTo>
                    <a:pt x="144780" y="113055016"/>
                  </a:lnTo>
                  <a:lnTo>
                    <a:pt x="0" y="113055016"/>
                  </a:lnTo>
                  <a:lnTo>
                    <a:pt x="0" y="112910231"/>
                  </a:lnTo>
                  <a:close/>
                  <a:moveTo>
                    <a:pt x="209907857" y="144780"/>
                  </a:moveTo>
                  <a:lnTo>
                    <a:pt x="210052642" y="144780"/>
                  </a:lnTo>
                  <a:lnTo>
                    <a:pt x="210052642" y="112910231"/>
                  </a:lnTo>
                  <a:lnTo>
                    <a:pt x="209907857" y="112910231"/>
                  </a:lnTo>
                  <a:lnTo>
                    <a:pt x="209907857" y="144780"/>
                  </a:lnTo>
                  <a:close/>
                  <a:moveTo>
                    <a:pt x="144780" y="112910231"/>
                  </a:moveTo>
                  <a:lnTo>
                    <a:pt x="209907857" y="112910231"/>
                  </a:lnTo>
                  <a:lnTo>
                    <a:pt x="209907857" y="113055016"/>
                  </a:lnTo>
                  <a:lnTo>
                    <a:pt x="144780" y="113055016"/>
                  </a:lnTo>
                  <a:lnTo>
                    <a:pt x="144780" y="112910231"/>
                  </a:lnTo>
                  <a:close/>
                  <a:moveTo>
                    <a:pt x="209907857" y="0"/>
                  </a:moveTo>
                  <a:lnTo>
                    <a:pt x="210052642" y="0"/>
                  </a:lnTo>
                  <a:lnTo>
                    <a:pt x="210052642" y="144780"/>
                  </a:lnTo>
                  <a:lnTo>
                    <a:pt x="209907857" y="144780"/>
                  </a:lnTo>
                  <a:lnTo>
                    <a:pt x="209907857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209907857" y="0"/>
                  </a:lnTo>
                  <a:lnTo>
                    <a:pt x="209907857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028700" y="1028700"/>
            <a:ext cx="6901805" cy="1923056"/>
            <a:chOff x="0" y="0"/>
            <a:chExt cx="1812901" cy="50513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12901" cy="505130"/>
            </a:xfrm>
            <a:custGeom>
              <a:avLst/>
              <a:gdLst/>
              <a:ahLst/>
              <a:cxnLst/>
              <a:rect r="r" b="b" t="t" l="l"/>
              <a:pathLst>
                <a:path h="505130" w="1812901">
                  <a:moveTo>
                    <a:pt x="543870" y="0"/>
                  </a:moveTo>
                  <a:cubicBezTo>
                    <a:pt x="1243132" y="0"/>
                    <a:pt x="1812901" y="158755"/>
                    <a:pt x="1812901" y="353591"/>
                  </a:cubicBezTo>
                  <a:lnTo>
                    <a:pt x="1812901" y="505130"/>
                  </a:lnTo>
                  <a:lnTo>
                    <a:pt x="1269030" y="505130"/>
                  </a:lnTo>
                  <a:cubicBezTo>
                    <a:pt x="569769" y="505130"/>
                    <a:pt x="0" y="346375"/>
                    <a:pt x="0" y="151539"/>
                  </a:cubicBezTo>
                  <a:lnTo>
                    <a:pt x="0" y="0"/>
                  </a:lnTo>
                  <a:lnTo>
                    <a:pt x="543870" y="0"/>
                  </a:lnTo>
                  <a:close/>
                </a:path>
              </a:pathLst>
            </a:custGeom>
            <a:solidFill>
              <a:srgbClr val="FFECA7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129493" y="62304"/>
              <a:ext cx="1553915" cy="4376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27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396766" y="3668421"/>
            <a:ext cx="13809692" cy="5076011"/>
            <a:chOff x="0" y="0"/>
            <a:chExt cx="1869345" cy="68711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869345" cy="687113"/>
            </a:xfrm>
            <a:custGeom>
              <a:avLst/>
              <a:gdLst/>
              <a:ahLst/>
              <a:cxnLst/>
              <a:rect r="r" b="b" t="t" l="l"/>
              <a:pathLst>
                <a:path h="687113" w="1869345">
                  <a:moveTo>
                    <a:pt x="10950" y="0"/>
                  </a:moveTo>
                  <a:lnTo>
                    <a:pt x="1858396" y="0"/>
                  </a:lnTo>
                  <a:cubicBezTo>
                    <a:pt x="1861300" y="0"/>
                    <a:pt x="1864085" y="1154"/>
                    <a:pt x="1866138" y="3207"/>
                  </a:cubicBezTo>
                  <a:cubicBezTo>
                    <a:pt x="1868192" y="5260"/>
                    <a:pt x="1869345" y="8046"/>
                    <a:pt x="1869345" y="10950"/>
                  </a:cubicBezTo>
                  <a:lnTo>
                    <a:pt x="1869345" y="676163"/>
                  </a:lnTo>
                  <a:cubicBezTo>
                    <a:pt x="1869345" y="679067"/>
                    <a:pt x="1868192" y="681852"/>
                    <a:pt x="1866138" y="683906"/>
                  </a:cubicBezTo>
                  <a:cubicBezTo>
                    <a:pt x="1864085" y="685959"/>
                    <a:pt x="1861300" y="687113"/>
                    <a:pt x="1858396" y="687113"/>
                  </a:cubicBezTo>
                  <a:lnTo>
                    <a:pt x="10950" y="687113"/>
                  </a:lnTo>
                  <a:cubicBezTo>
                    <a:pt x="8046" y="687113"/>
                    <a:pt x="5260" y="685959"/>
                    <a:pt x="3207" y="683906"/>
                  </a:cubicBezTo>
                  <a:cubicBezTo>
                    <a:pt x="1154" y="681852"/>
                    <a:pt x="0" y="679067"/>
                    <a:pt x="0" y="676163"/>
                  </a:cubicBezTo>
                  <a:lnTo>
                    <a:pt x="0" y="10950"/>
                  </a:lnTo>
                  <a:cubicBezTo>
                    <a:pt x="0" y="8046"/>
                    <a:pt x="1154" y="5260"/>
                    <a:pt x="3207" y="3207"/>
                  </a:cubicBezTo>
                  <a:cubicBezTo>
                    <a:pt x="5260" y="1154"/>
                    <a:pt x="8046" y="0"/>
                    <a:pt x="10950" y="0"/>
                  </a:cubicBezTo>
                  <a:close/>
                </a:path>
              </a:pathLst>
            </a:custGeom>
            <a:solidFill>
              <a:srgbClr val="FFECA7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57150"/>
              <a:ext cx="1869345" cy="6299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27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774664" y="4499624"/>
            <a:ext cx="13053896" cy="2999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Clean an</a:t>
            </a:r>
            <a:r>
              <a:rPr lang="en-US" sz="3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 structure the dataset ( EDA)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Apply statistical analysis (Linear Regression, ANOVA, Logistic Regression)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Develop a simple end-to-end application on Python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Generate a report documenting methods, insights, and conclusions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96766" y="1486990"/>
            <a:ext cx="6165673" cy="882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99"/>
              </a:lnSpc>
            </a:pPr>
            <a:r>
              <a:rPr lang="en-US" sz="4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we will focus on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198029" y="3086100"/>
            <a:ext cx="3627882" cy="4114800"/>
          </a:xfrm>
          <a:custGeom>
            <a:avLst/>
            <a:gdLst/>
            <a:ahLst/>
            <a:cxnLst/>
            <a:rect r="r" b="b" t="t" l="l"/>
            <a:pathLst>
              <a:path h="4114800" w="3627882">
                <a:moveTo>
                  <a:pt x="0" y="0"/>
                </a:moveTo>
                <a:lnTo>
                  <a:pt x="3627882" y="0"/>
                </a:lnTo>
                <a:lnTo>
                  <a:pt x="362788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798319" y="3086100"/>
            <a:ext cx="5303716" cy="4114800"/>
          </a:xfrm>
          <a:custGeom>
            <a:avLst/>
            <a:gdLst/>
            <a:ahLst/>
            <a:cxnLst/>
            <a:rect r="r" b="b" t="t" l="l"/>
            <a:pathLst>
              <a:path h="4114800" w="5303716">
                <a:moveTo>
                  <a:pt x="0" y="0"/>
                </a:moveTo>
                <a:lnTo>
                  <a:pt x="5303717" y="0"/>
                </a:lnTo>
                <a:lnTo>
                  <a:pt x="530371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DAG-INJlqcU</dc:identifier>
  <dcterms:modified xsi:type="dcterms:W3CDTF">2011-08-01T06:04:30Z</dcterms:modified>
  <cp:revision>1</cp:revision>
  <dc:title>Green and White Simple Illustrative Data Analytics Presentation</dc:title>
</cp:coreProperties>
</file>